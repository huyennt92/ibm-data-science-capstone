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1" r:id="rId10"/>
    <p:sldId id="270" r:id="rId11"/>
    <p:sldId id="266" r:id="rId12"/>
    <p:sldId id="272" r:id="rId13"/>
    <p:sldId id="273" r:id="rId14"/>
    <p:sldId id="274" r:id="rId15"/>
    <p:sldId id="276" r:id="rId16"/>
    <p:sldId id="275" r:id="rId17"/>
    <p:sldId id="264" r:id="rId18"/>
    <p:sldId id="267" r:id="rId19"/>
    <p:sldId id="279" r:id="rId20"/>
    <p:sldId id="268" r:id="rId21"/>
    <p:sldId id="269" r:id="rId22"/>
    <p:sldId id="277" r:id="rId2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90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2EAE6-217E-4D6E-A609-154B244E2020}" type="datetimeFigureOut">
              <a:rPr lang="en-001" smtClean="0"/>
              <a:t>31/05/2026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B84A6-CF02-4231-BCEB-6B6DEA8393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14366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B84A6-CF02-4231-BCEB-6B6DEA839391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5533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911" y="302298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5"/>
                </a:moveTo>
                <a:lnTo>
                  <a:pt x="43019" y="30365"/>
                </a:lnTo>
                <a:lnTo>
                  <a:pt x="43019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652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430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8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682" y="301266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8" y="50800"/>
                </a:lnTo>
                <a:lnTo>
                  <a:pt x="43018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0" y="20319"/>
                </a:moveTo>
                <a:lnTo>
                  <a:pt x="10490" y="10160"/>
                </a:lnTo>
                <a:lnTo>
                  <a:pt x="53671" y="10160"/>
                </a:lnTo>
                <a:lnTo>
                  <a:pt x="53671" y="40639"/>
                </a:lnTo>
                <a:lnTo>
                  <a:pt x="43511" y="40639"/>
                </a:lnTo>
              </a:path>
              <a:path w="64135" h="50800">
                <a:moveTo>
                  <a:pt x="20651" y="10160"/>
                </a:moveTo>
                <a:lnTo>
                  <a:pt x="20651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1" y="30480"/>
                </a:lnTo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31512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609314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786617" y="302536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697717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875518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773917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0121" y="301266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099" y="0"/>
                </a:lnTo>
              </a:path>
              <a:path w="50800" h="25400">
                <a:moveTo>
                  <a:pt x="12699" y="12700"/>
                </a:moveTo>
                <a:lnTo>
                  <a:pt x="50800" y="12700"/>
                </a:lnTo>
              </a:path>
              <a:path w="50800" h="25400">
                <a:moveTo>
                  <a:pt x="12699" y="25400"/>
                </a:moveTo>
                <a:lnTo>
                  <a:pt x="50800" y="2540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963921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141723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040121" y="305076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099" y="0"/>
                </a:lnTo>
              </a:path>
              <a:path w="50800" h="12700">
                <a:moveTo>
                  <a:pt x="12699" y="12700"/>
                </a:moveTo>
                <a:lnTo>
                  <a:pt x="50800" y="127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306339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12700"/>
                </a:moveTo>
                <a:lnTo>
                  <a:pt x="50800" y="1270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603024" y="304314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575960" y="301665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9"/>
                </a:moveTo>
                <a:lnTo>
                  <a:pt x="30367" y="6794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4"/>
                </a:lnTo>
                <a:lnTo>
                  <a:pt x="0" y="15189"/>
                </a:lnTo>
                <a:lnTo>
                  <a:pt x="0" y="23571"/>
                </a:lnTo>
                <a:lnTo>
                  <a:pt x="6797" y="30365"/>
                </a:lnTo>
                <a:lnTo>
                  <a:pt x="15183" y="30365"/>
                </a:lnTo>
                <a:lnTo>
                  <a:pt x="23568" y="30365"/>
                </a:lnTo>
                <a:lnTo>
                  <a:pt x="30367" y="23571"/>
                </a:lnTo>
                <a:lnTo>
                  <a:pt x="30367" y="15189"/>
                </a:lnTo>
                <a:close/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5481104" y="301266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800"/>
                </a:moveTo>
                <a:lnTo>
                  <a:pt x="50399" y="48793"/>
                </a:lnTo>
                <a:lnTo>
                  <a:pt x="58487" y="43345"/>
                </a:lnTo>
                <a:lnTo>
                  <a:pt x="64001" y="35267"/>
                </a:lnTo>
                <a:lnTo>
                  <a:pt x="66039" y="25400"/>
                </a:lnTo>
                <a:lnTo>
                  <a:pt x="64035" y="15532"/>
                </a:lnTo>
                <a:lnTo>
                  <a:pt x="58578" y="7467"/>
                </a:lnTo>
                <a:lnTo>
                  <a:pt x="50501" y="2006"/>
                </a:lnTo>
                <a:lnTo>
                  <a:pt x="40639" y="0"/>
                </a:lnTo>
                <a:lnTo>
                  <a:pt x="30777" y="2006"/>
                </a:lnTo>
                <a:lnTo>
                  <a:pt x="22700" y="7467"/>
                </a:lnTo>
                <a:lnTo>
                  <a:pt x="17244" y="15532"/>
                </a:lnTo>
                <a:lnTo>
                  <a:pt x="15239" y="25400"/>
                </a:lnTo>
              </a:path>
              <a:path w="233679" h="50800">
                <a:moveTo>
                  <a:pt x="30479" y="17780"/>
                </a:moveTo>
                <a:lnTo>
                  <a:pt x="15239" y="30480"/>
                </a:lnTo>
                <a:lnTo>
                  <a:pt x="0" y="17780"/>
                </a:lnTo>
              </a:path>
              <a:path w="233679" h="50800">
                <a:moveTo>
                  <a:pt x="193041" y="50800"/>
                </a:moveTo>
                <a:lnTo>
                  <a:pt x="183179" y="48793"/>
                </a:lnTo>
                <a:lnTo>
                  <a:pt x="175102" y="43345"/>
                </a:lnTo>
                <a:lnTo>
                  <a:pt x="169645" y="35267"/>
                </a:lnTo>
                <a:lnTo>
                  <a:pt x="167641" y="25400"/>
                </a:lnTo>
                <a:lnTo>
                  <a:pt x="169645" y="15532"/>
                </a:lnTo>
                <a:lnTo>
                  <a:pt x="175102" y="7467"/>
                </a:lnTo>
                <a:lnTo>
                  <a:pt x="183179" y="2006"/>
                </a:lnTo>
                <a:lnTo>
                  <a:pt x="193041" y="0"/>
                </a:lnTo>
                <a:lnTo>
                  <a:pt x="202904" y="2006"/>
                </a:lnTo>
                <a:lnTo>
                  <a:pt x="210981" y="7467"/>
                </a:lnTo>
                <a:lnTo>
                  <a:pt x="216437" y="15532"/>
                </a:lnTo>
                <a:lnTo>
                  <a:pt x="218442" y="25400"/>
                </a:lnTo>
              </a:path>
              <a:path w="233679" h="50800">
                <a:moveTo>
                  <a:pt x="233681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0" y="0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911" y="302298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5"/>
                </a:moveTo>
                <a:lnTo>
                  <a:pt x="43019" y="30365"/>
                </a:lnTo>
                <a:lnTo>
                  <a:pt x="43019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652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430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8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682" y="301266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8" y="50800"/>
                </a:lnTo>
                <a:lnTo>
                  <a:pt x="43018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0" y="20319"/>
                </a:moveTo>
                <a:lnTo>
                  <a:pt x="10490" y="10160"/>
                </a:lnTo>
                <a:lnTo>
                  <a:pt x="53671" y="10160"/>
                </a:lnTo>
                <a:lnTo>
                  <a:pt x="53671" y="40639"/>
                </a:lnTo>
                <a:lnTo>
                  <a:pt x="43511" y="40639"/>
                </a:lnTo>
              </a:path>
              <a:path w="64135" h="50800">
                <a:moveTo>
                  <a:pt x="20651" y="10160"/>
                </a:moveTo>
                <a:lnTo>
                  <a:pt x="20651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1" y="30480"/>
                </a:lnTo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31512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609314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786617" y="302536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697717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875518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773917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0121" y="301266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099" y="0"/>
                </a:lnTo>
              </a:path>
              <a:path w="50800" h="25400">
                <a:moveTo>
                  <a:pt x="12699" y="12700"/>
                </a:moveTo>
                <a:lnTo>
                  <a:pt x="50800" y="12700"/>
                </a:lnTo>
              </a:path>
              <a:path w="50800" h="25400">
                <a:moveTo>
                  <a:pt x="12699" y="25400"/>
                </a:moveTo>
                <a:lnTo>
                  <a:pt x="50800" y="2540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963921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141723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040121" y="305076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099" y="0"/>
                </a:lnTo>
              </a:path>
              <a:path w="50800" h="12700">
                <a:moveTo>
                  <a:pt x="12699" y="12700"/>
                </a:moveTo>
                <a:lnTo>
                  <a:pt x="50800" y="127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306339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12700"/>
                </a:moveTo>
                <a:lnTo>
                  <a:pt x="50800" y="1270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603024" y="304314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575960" y="301665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9"/>
                </a:moveTo>
                <a:lnTo>
                  <a:pt x="30367" y="6794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4"/>
                </a:lnTo>
                <a:lnTo>
                  <a:pt x="0" y="15189"/>
                </a:lnTo>
                <a:lnTo>
                  <a:pt x="0" y="23571"/>
                </a:lnTo>
                <a:lnTo>
                  <a:pt x="6797" y="30365"/>
                </a:lnTo>
                <a:lnTo>
                  <a:pt x="15183" y="30365"/>
                </a:lnTo>
                <a:lnTo>
                  <a:pt x="23568" y="30365"/>
                </a:lnTo>
                <a:lnTo>
                  <a:pt x="30367" y="23571"/>
                </a:lnTo>
                <a:lnTo>
                  <a:pt x="30367" y="15189"/>
                </a:lnTo>
                <a:close/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5481104" y="301266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800"/>
                </a:moveTo>
                <a:lnTo>
                  <a:pt x="50399" y="48793"/>
                </a:lnTo>
                <a:lnTo>
                  <a:pt x="58487" y="43345"/>
                </a:lnTo>
                <a:lnTo>
                  <a:pt x="64001" y="35267"/>
                </a:lnTo>
                <a:lnTo>
                  <a:pt x="66039" y="25400"/>
                </a:lnTo>
                <a:lnTo>
                  <a:pt x="64035" y="15532"/>
                </a:lnTo>
                <a:lnTo>
                  <a:pt x="58578" y="7467"/>
                </a:lnTo>
                <a:lnTo>
                  <a:pt x="50501" y="2006"/>
                </a:lnTo>
                <a:lnTo>
                  <a:pt x="40639" y="0"/>
                </a:lnTo>
                <a:lnTo>
                  <a:pt x="30777" y="2006"/>
                </a:lnTo>
                <a:lnTo>
                  <a:pt x="22700" y="7467"/>
                </a:lnTo>
                <a:lnTo>
                  <a:pt x="17244" y="15532"/>
                </a:lnTo>
                <a:lnTo>
                  <a:pt x="15239" y="25400"/>
                </a:lnTo>
              </a:path>
              <a:path w="233679" h="50800">
                <a:moveTo>
                  <a:pt x="30479" y="17780"/>
                </a:moveTo>
                <a:lnTo>
                  <a:pt x="15239" y="30480"/>
                </a:lnTo>
                <a:lnTo>
                  <a:pt x="0" y="17780"/>
                </a:lnTo>
              </a:path>
              <a:path w="233679" h="50800">
                <a:moveTo>
                  <a:pt x="193041" y="50800"/>
                </a:moveTo>
                <a:lnTo>
                  <a:pt x="183179" y="48793"/>
                </a:lnTo>
                <a:lnTo>
                  <a:pt x="175102" y="43345"/>
                </a:lnTo>
                <a:lnTo>
                  <a:pt x="169645" y="35267"/>
                </a:lnTo>
                <a:lnTo>
                  <a:pt x="167641" y="25400"/>
                </a:lnTo>
                <a:lnTo>
                  <a:pt x="169645" y="15532"/>
                </a:lnTo>
                <a:lnTo>
                  <a:pt x="175102" y="7467"/>
                </a:lnTo>
                <a:lnTo>
                  <a:pt x="183179" y="2006"/>
                </a:lnTo>
                <a:lnTo>
                  <a:pt x="193041" y="0"/>
                </a:lnTo>
                <a:lnTo>
                  <a:pt x="202904" y="2006"/>
                </a:lnTo>
                <a:lnTo>
                  <a:pt x="210981" y="7467"/>
                </a:lnTo>
                <a:lnTo>
                  <a:pt x="216437" y="15532"/>
                </a:lnTo>
                <a:lnTo>
                  <a:pt x="218442" y="25400"/>
                </a:lnTo>
              </a:path>
              <a:path w="233679" h="50800">
                <a:moveTo>
                  <a:pt x="233681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87742" y="623746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83" y="0"/>
                </a:moveTo>
                <a:lnTo>
                  <a:pt x="50800" y="0"/>
                </a:lnTo>
                <a:lnTo>
                  <a:pt x="31074" y="4013"/>
                </a:lnTo>
                <a:lnTo>
                  <a:pt x="14921" y="14922"/>
                </a:lnTo>
                <a:lnTo>
                  <a:pt x="4007" y="31076"/>
                </a:lnTo>
                <a:lnTo>
                  <a:pt x="0" y="50800"/>
                </a:lnTo>
                <a:lnTo>
                  <a:pt x="0" y="82384"/>
                </a:lnTo>
                <a:lnTo>
                  <a:pt x="5584583" y="82384"/>
                </a:lnTo>
                <a:lnTo>
                  <a:pt x="5584583" y="50800"/>
                </a:lnTo>
                <a:lnTo>
                  <a:pt x="5580570" y="31076"/>
                </a:lnTo>
                <a:lnTo>
                  <a:pt x="5569661" y="14922"/>
                </a:lnTo>
                <a:lnTo>
                  <a:pt x="5553506" y="4013"/>
                </a:lnTo>
                <a:lnTo>
                  <a:pt x="553378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38544" y="687001"/>
            <a:ext cx="5584825" cy="689610"/>
          </a:xfrm>
          <a:custGeom>
            <a:avLst/>
            <a:gdLst/>
            <a:ahLst/>
            <a:cxnLst/>
            <a:rect l="l" t="t" r="r" b="b"/>
            <a:pathLst>
              <a:path w="5584825" h="689610">
                <a:moveTo>
                  <a:pt x="5584583" y="0"/>
                </a:moveTo>
                <a:lnTo>
                  <a:pt x="0" y="0"/>
                </a:lnTo>
                <a:lnTo>
                  <a:pt x="0" y="689292"/>
                </a:lnTo>
                <a:lnTo>
                  <a:pt x="5584583" y="689292"/>
                </a:lnTo>
                <a:lnTo>
                  <a:pt x="5584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87742" y="668163"/>
            <a:ext cx="5584825" cy="657860"/>
          </a:xfrm>
          <a:custGeom>
            <a:avLst/>
            <a:gdLst/>
            <a:ahLst/>
            <a:cxnLst/>
            <a:rect l="l" t="t" r="r" b="b"/>
            <a:pathLst>
              <a:path w="5584825" h="657860">
                <a:moveTo>
                  <a:pt x="5584583" y="0"/>
                </a:moveTo>
                <a:lnTo>
                  <a:pt x="0" y="0"/>
                </a:lnTo>
                <a:lnTo>
                  <a:pt x="0" y="606539"/>
                </a:lnTo>
                <a:lnTo>
                  <a:pt x="4007" y="626262"/>
                </a:lnTo>
                <a:lnTo>
                  <a:pt x="14921" y="642416"/>
                </a:lnTo>
                <a:lnTo>
                  <a:pt x="31074" y="653326"/>
                </a:lnTo>
                <a:lnTo>
                  <a:pt x="50800" y="657339"/>
                </a:lnTo>
                <a:lnTo>
                  <a:pt x="5533783" y="657339"/>
                </a:lnTo>
                <a:lnTo>
                  <a:pt x="5553506" y="653326"/>
                </a:lnTo>
                <a:lnTo>
                  <a:pt x="5569661" y="642416"/>
                </a:lnTo>
                <a:lnTo>
                  <a:pt x="5580570" y="626262"/>
                </a:lnTo>
                <a:lnTo>
                  <a:pt x="5584583" y="606539"/>
                </a:lnTo>
                <a:lnTo>
                  <a:pt x="558458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911" y="302298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5"/>
                </a:moveTo>
                <a:lnTo>
                  <a:pt x="43019" y="30365"/>
                </a:lnTo>
                <a:lnTo>
                  <a:pt x="43019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652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430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8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682" y="301266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8" y="50800"/>
                </a:lnTo>
                <a:lnTo>
                  <a:pt x="43018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0" y="20319"/>
                </a:moveTo>
                <a:lnTo>
                  <a:pt x="10490" y="10160"/>
                </a:lnTo>
                <a:lnTo>
                  <a:pt x="53671" y="10160"/>
                </a:lnTo>
                <a:lnTo>
                  <a:pt x="53671" y="40639"/>
                </a:lnTo>
                <a:lnTo>
                  <a:pt x="43511" y="40639"/>
                </a:lnTo>
              </a:path>
              <a:path w="64135" h="50800">
                <a:moveTo>
                  <a:pt x="20651" y="10160"/>
                </a:moveTo>
                <a:lnTo>
                  <a:pt x="20651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1" y="30480"/>
                </a:lnTo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31512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609314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786617" y="302536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697717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875518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773917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0121" y="301266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099" y="0"/>
                </a:lnTo>
              </a:path>
              <a:path w="50800" h="25400">
                <a:moveTo>
                  <a:pt x="12699" y="12700"/>
                </a:moveTo>
                <a:lnTo>
                  <a:pt x="50800" y="12700"/>
                </a:lnTo>
              </a:path>
              <a:path w="50800" h="25400">
                <a:moveTo>
                  <a:pt x="12699" y="25400"/>
                </a:moveTo>
                <a:lnTo>
                  <a:pt x="50800" y="2540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963921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141723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040121" y="305076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099" y="0"/>
                </a:lnTo>
              </a:path>
              <a:path w="50800" h="12700">
                <a:moveTo>
                  <a:pt x="12699" y="12700"/>
                </a:moveTo>
                <a:lnTo>
                  <a:pt x="50800" y="127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306339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12700"/>
                </a:moveTo>
                <a:lnTo>
                  <a:pt x="50800" y="1270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603024" y="304314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575960" y="301665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9"/>
                </a:moveTo>
                <a:lnTo>
                  <a:pt x="30367" y="6794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4"/>
                </a:lnTo>
                <a:lnTo>
                  <a:pt x="0" y="15189"/>
                </a:lnTo>
                <a:lnTo>
                  <a:pt x="0" y="23571"/>
                </a:lnTo>
                <a:lnTo>
                  <a:pt x="6797" y="30365"/>
                </a:lnTo>
                <a:lnTo>
                  <a:pt x="15183" y="30365"/>
                </a:lnTo>
                <a:lnTo>
                  <a:pt x="23568" y="30365"/>
                </a:lnTo>
                <a:lnTo>
                  <a:pt x="30367" y="23571"/>
                </a:lnTo>
                <a:lnTo>
                  <a:pt x="30367" y="15189"/>
                </a:lnTo>
                <a:close/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5481104" y="301266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800"/>
                </a:moveTo>
                <a:lnTo>
                  <a:pt x="50399" y="48793"/>
                </a:lnTo>
                <a:lnTo>
                  <a:pt x="58487" y="43345"/>
                </a:lnTo>
                <a:lnTo>
                  <a:pt x="64001" y="35267"/>
                </a:lnTo>
                <a:lnTo>
                  <a:pt x="66039" y="25400"/>
                </a:lnTo>
                <a:lnTo>
                  <a:pt x="64035" y="15532"/>
                </a:lnTo>
                <a:lnTo>
                  <a:pt x="58578" y="7467"/>
                </a:lnTo>
                <a:lnTo>
                  <a:pt x="50501" y="2006"/>
                </a:lnTo>
                <a:lnTo>
                  <a:pt x="40639" y="0"/>
                </a:lnTo>
                <a:lnTo>
                  <a:pt x="30777" y="2006"/>
                </a:lnTo>
                <a:lnTo>
                  <a:pt x="22700" y="7467"/>
                </a:lnTo>
                <a:lnTo>
                  <a:pt x="17244" y="15532"/>
                </a:lnTo>
                <a:lnTo>
                  <a:pt x="15239" y="25400"/>
                </a:lnTo>
              </a:path>
              <a:path w="233679" h="50800">
                <a:moveTo>
                  <a:pt x="30479" y="17780"/>
                </a:moveTo>
                <a:lnTo>
                  <a:pt x="15239" y="30480"/>
                </a:lnTo>
                <a:lnTo>
                  <a:pt x="0" y="17780"/>
                </a:lnTo>
              </a:path>
              <a:path w="233679" h="50800">
                <a:moveTo>
                  <a:pt x="193041" y="50800"/>
                </a:moveTo>
                <a:lnTo>
                  <a:pt x="183179" y="48793"/>
                </a:lnTo>
                <a:lnTo>
                  <a:pt x="175102" y="43345"/>
                </a:lnTo>
                <a:lnTo>
                  <a:pt x="169645" y="35267"/>
                </a:lnTo>
                <a:lnTo>
                  <a:pt x="167641" y="25400"/>
                </a:lnTo>
                <a:lnTo>
                  <a:pt x="169645" y="15532"/>
                </a:lnTo>
                <a:lnTo>
                  <a:pt x="175102" y="7467"/>
                </a:lnTo>
                <a:lnTo>
                  <a:pt x="183179" y="2006"/>
                </a:lnTo>
                <a:lnTo>
                  <a:pt x="193041" y="0"/>
                </a:lnTo>
                <a:lnTo>
                  <a:pt x="202904" y="2006"/>
                </a:lnTo>
                <a:lnTo>
                  <a:pt x="210981" y="7467"/>
                </a:lnTo>
                <a:lnTo>
                  <a:pt x="216437" y="15532"/>
                </a:lnTo>
                <a:lnTo>
                  <a:pt x="218442" y="25400"/>
                </a:lnTo>
              </a:path>
              <a:path w="233679" h="50800">
                <a:moveTo>
                  <a:pt x="233681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299" y="43875"/>
            <a:ext cx="249364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3" y="721927"/>
            <a:ext cx="5045710" cy="1836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38344" y="3116140"/>
            <a:ext cx="455295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3184" y="3116140"/>
            <a:ext cx="235585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slide" Target="slide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4" y="687001"/>
            <a:ext cx="5584825" cy="6896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85725" algn="ctr">
              <a:lnSpc>
                <a:spcPct val="100000"/>
              </a:lnSpc>
              <a:spcBef>
                <a:spcPts val="47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endParaRPr sz="1400">
              <a:latin typeface="Arial"/>
              <a:cs typeface="Arial"/>
            </a:endParaRPr>
          </a:p>
          <a:p>
            <a:pPr marR="84455" algn="ctr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Falcon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1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First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Landing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0707" y="1534058"/>
            <a:ext cx="23202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100" spc="-40" dirty="0">
                <a:latin typeface="Arial"/>
                <a:cs typeface="Arial"/>
              </a:rPr>
              <a:t>NGUYỄN THỊ HUYỀN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Coursera </a:t>
            </a:r>
            <a:r>
              <a:rPr sz="800" dirty="0">
                <a:latin typeface="Arial"/>
                <a:cs typeface="Arial"/>
              </a:rPr>
              <a:t>-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IBM </a:t>
            </a:r>
            <a:r>
              <a:rPr sz="800" spc="-10" dirty="0">
                <a:latin typeface="Arial"/>
                <a:cs typeface="Arial"/>
              </a:rPr>
              <a:t>Data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Science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Professional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Certificate</a:t>
            </a:r>
            <a:endParaRPr sz="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Arial"/>
                <a:cs typeface="Arial"/>
              </a:rPr>
              <a:t>May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3</a:t>
            </a:r>
            <a:r>
              <a:rPr lang="en-US" sz="1100" spc="-55" dirty="0">
                <a:latin typeface="Arial"/>
                <a:cs typeface="Arial"/>
              </a:rPr>
              <a:t>1</a:t>
            </a:r>
            <a:r>
              <a:rPr sz="1100" spc="-55" dirty="0">
                <a:latin typeface="Arial"/>
                <a:cs typeface="Arial"/>
              </a:rPr>
              <a:t>,</a:t>
            </a:r>
            <a:r>
              <a:rPr sz="1100" spc="-1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2026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12700" y="3116140"/>
            <a:ext cx="347916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916430" algn="l"/>
              </a:tabLst>
            </a:pP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[Your</a:t>
            </a:r>
            <a:r>
              <a:rPr sz="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 Here]</a:t>
            </a:r>
            <a:r>
              <a:rPr sz="6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(Coursera</a:t>
            </a: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IBM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Profe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	ssional</a:t>
            </a:r>
            <a:r>
              <a:rPr sz="600" spc="1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Data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Science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Capstone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Repor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1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729029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111134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883270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2093302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0" y="394887"/>
            <a:ext cx="5050790" cy="260019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spc="-85" dirty="0">
                <a:latin typeface="Arial Black"/>
                <a:cs typeface="Arial Black"/>
              </a:rPr>
              <a:t>Project</a:t>
            </a:r>
            <a:r>
              <a:rPr sz="1100" spc="-6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Background:</a:t>
            </a:r>
            <a:endParaRPr sz="1100" dirty="0">
              <a:latin typeface="Arial Black"/>
              <a:cs typeface="Arial Black"/>
            </a:endParaRPr>
          </a:p>
          <a:p>
            <a:pPr marL="289560" marR="60960">
              <a:lnSpc>
                <a:spcPct val="105800"/>
              </a:lnSpc>
              <a:spcBef>
                <a:spcPts val="270"/>
              </a:spcBef>
            </a:pPr>
            <a:r>
              <a:rPr sz="1100" spc="-40" dirty="0">
                <a:latin typeface="Arial"/>
                <a:cs typeface="Arial"/>
              </a:rPr>
              <a:t>Commercial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space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company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SpaceX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advertises</a:t>
            </a:r>
            <a:r>
              <a:rPr sz="1100" spc="-35" dirty="0">
                <a:latin typeface="Arial"/>
                <a:cs typeface="Arial"/>
              </a:rPr>
              <a:t> Falcon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9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rocket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launches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$62 </a:t>
            </a:r>
            <a:r>
              <a:rPr sz="1100" spc="-45" dirty="0">
                <a:latin typeface="Arial"/>
                <a:cs typeface="Arial"/>
              </a:rPr>
              <a:t>million,</a:t>
            </a:r>
            <a:r>
              <a:rPr sz="1100" spc="-40" dirty="0">
                <a:latin typeface="Arial"/>
                <a:cs typeface="Arial"/>
              </a:rPr>
              <a:t> significantly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cheaper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than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competitors.</a:t>
            </a:r>
            <a:endParaRPr sz="1100" dirty="0">
              <a:latin typeface="Arial"/>
              <a:cs typeface="Arial"/>
            </a:endParaRPr>
          </a:p>
          <a:p>
            <a:pPr marL="289560" marR="5080">
              <a:lnSpc>
                <a:spcPct val="105800"/>
              </a:lnSpc>
              <a:spcBef>
                <a:spcPts val="300"/>
              </a:spcBef>
            </a:pPr>
            <a:r>
              <a:rPr sz="1100" spc="-40" dirty="0">
                <a:latin typeface="Arial"/>
                <a:cs typeface="Arial"/>
              </a:rPr>
              <a:t>The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cost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savings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primarily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due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SpaceX’s</a:t>
            </a:r>
            <a:r>
              <a:rPr sz="1100" spc="-9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ability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reuse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first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stage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rocket.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70" dirty="0">
                <a:latin typeface="Arial Black"/>
                <a:cs typeface="Arial Black"/>
              </a:rPr>
              <a:t>Problem</a:t>
            </a:r>
            <a:r>
              <a:rPr sz="1100" spc="-6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Statement:</a:t>
            </a:r>
            <a:endParaRPr sz="1100" dirty="0">
              <a:latin typeface="Arial Black"/>
              <a:cs typeface="Arial Black"/>
            </a:endParaRPr>
          </a:p>
          <a:p>
            <a:pPr marL="289560" marR="310515">
              <a:lnSpc>
                <a:spcPct val="114100"/>
              </a:lnSpc>
              <a:spcBef>
                <a:spcPts val="195"/>
              </a:spcBef>
            </a:pPr>
            <a:r>
              <a:rPr sz="1100" dirty="0">
                <a:latin typeface="Arial"/>
                <a:cs typeface="Arial"/>
              </a:rPr>
              <a:t>Our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goal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is</a:t>
            </a:r>
            <a:r>
              <a:rPr sz="1100" spc="-9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predict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whether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Falcon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9</a:t>
            </a:r>
            <a:r>
              <a:rPr sz="1100" spc="-14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first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stage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will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land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successfully. </a:t>
            </a:r>
            <a:r>
              <a:rPr sz="1100" spc="-40" dirty="0">
                <a:latin typeface="Arial"/>
                <a:cs typeface="Arial"/>
              </a:rPr>
              <a:t>Accurately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predicting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this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outcome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helps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estimate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launch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costs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provides </a:t>
            </a:r>
            <a:r>
              <a:rPr sz="1100" spc="-30" dirty="0">
                <a:latin typeface="Arial"/>
                <a:cs typeface="Arial"/>
              </a:rPr>
              <a:t>valuable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insights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competing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companies.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Arial Black"/>
                <a:cs typeface="Arial Black"/>
              </a:rPr>
              <a:t>GitHub</a:t>
            </a:r>
            <a:r>
              <a:rPr sz="1100" spc="-45" dirty="0">
                <a:latin typeface="Arial Black"/>
                <a:cs typeface="Arial Black"/>
              </a:rPr>
              <a:t> </a:t>
            </a:r>
            <a:r>
              <a:rPr sz="1100" spc="-75" dirty="0">
                <a:latin typeface="Arial Black"/>
                <a:cs typeface="Arial Black"/>
              </a:rPr>
              <a:t>Repository</a:t>
            </a:r>
            <a:r>
              <a:rPr sz="1100" spc="-55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 Black"/>
                <a:cs typeface="Arial Black"/>
              </a:rPr>
              <a:t>URL: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Calibri"/>
                <a:cs typeface="Calibri"/>
              </a:rPr>
              <a:t>https://github.com/huyennt92/IBM-Data-Science-Capstone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2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44911" y="302298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5"/>
                </a:moveTo>
                <a:lnTo>
                  <a:pt x="43019" y="30365"/>
                </a:lnTo>
                <a:lnTo>
                  <a:pt x="43019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59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652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43095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8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431512" y="3010138"/>
            <a:ext cx="129539" cy="55880"/>
            <a:chOff x="4431512" y="3010138"/>
            <a:chExt cx="129539" cy="55880"/>
          </a:xfrm>
        </p:grpSpPr>
        <p:sp>
          <p:nvSpPr>
            <p:cNvPr id="6" name="object 6"/>
            <p:cNvSpPr/>
            <p:nvPr/>
          </p:nvSpPr>
          <p:spPr>
            <a:xfrm>
              <a:off x="4494682" y="301266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8" y="50800"/>
                  </a:lnTo>
                  <a:lnTo>
                    <a:pt x="43018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0" y="20319"/>
                  </a:moveTo>
                  <a:lnTo>
                    <a:pt x="10490" y="10160"/>
                  </a:lnTo>
                  <a:lnTo>
                    <a:pt x="53671" y="10160"/>
                  </a:lnTo>
                  <a:lnTo>
                    <a:pt x="53671" y="40639"/>
                  </a:lnTo>
                  <a:lnTo>
                    <a:pt x="43511" y="40639"/>
                  </a:lnTo>
                </a:path>
                <a:path w="64135" h="50800">
                  <a:moveTo>
                    <a:pt x="20651" y="10160"/>
                  </a:moveTo>
                  <a:lnTo>
                    <a:pt x="20651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1" y="30480"/>
                  </a:lnTo>
                </a:path>
              </a:pathLst>
            </a:custGeom>
            <a:ln w="5059">
              <a:solidFill>
                <a:srgbClr val="ACA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31512" y="3019018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25399" y="0"/>
                  </a:moveTo>
                  <a:lnTo>
                    <a:pt x="0" y="19050"/>
                  </a:lnTo>
                  <a:lnTo>
                    <a:pt x="25399" y="38100"/>
                  </a:lnTo>
                  <a:lnTo>
                    <a:pt x="25399" y="0"/>
                  </a:lnTo>
                  <a:close/>
                </a:path>
              </a:pathLst>
            </a:custGeom>
            <a:solidFill>
              <a:srgbClr val="D6D6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609314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86617" y="302536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97717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75518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73917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63921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399" y="0"/>
                </a:moveTo>
                <a:lnTo>
                  <a:pt x="0" y="19050"/>
                </a:lnTo>
                <a:lnTo>
                  <a:pt x="25399" y="38100"/>
                </a:lnTo>
                <a:lnTo>
                  <a:pt x="25399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41723" y="30190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1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40121" y="305076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099" y="0"/>
                </a:lnTo>
              </a:path>
              <a:path w="50800" h="12700">
                <a:moveTo>
                  <a:pt x="12699" y="12700"/>
                </a:moveTo>
                <a:lnTo>
                  <a:pt x="50800" y="12700"/>
                </a:lnTo>
              </a:path>
            </a:pathLst>
          </a:custGeom>
          <a:ln w="7590">
            <a:solidFill>
              <a:srgbClr val="D6D6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06339" y="30126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099" y="0"/>
                </a:lnTo>
              </a:path>
              <a:path w="50800" h="50800">
                <a:moveTo>
                  <a:pt x="12699" y="12700"/>
                </a:moveTo>
                <a:lnTo>
                  <a:pt x="50800" y="12700"/>
                </a:lnTo>
              </a:path>
              <a:path w="50800" h="50800">
                <a:moveTo>
                  <a:pt x="12699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099" y="38100"/>
                </a:lnTo>
              </a:path>
              <a:path w="50800" h="50800">
                <a:moveTo>
                  <a:pt x="12699" y="50800"/>
                </a:moveTo>
                <a:lnTo>
                  <a:pt x="50800" y="50800"/>
                </a:lnTo>
              </a:path>
            </a:pathLst>
          </a:custGeom>
          <a:ln w="759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478574" y="3010138"/>
            <a:ext cx="238760" cy="57150"/>
            <a:chOff x="5478574" y="3010138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5603024" y="304314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19"/>
                  </a:lnTo>
                </a:path>
              </a:pathLst>
            </a:custGeom>
            <a:ln w="7590">
              <a:solidFill>
                <a:srgbClr val="ACA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75960" y="3016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7" y="15189"/>
                  </a:moveTo>
                  <a:lnTo>
                    <a:pt x="30367" y="6794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4"/>
                  </a:lnTo>
                  <a:lnTo>
                    <a:pt x="0" y="15189"/>
                  </a:lnTo>
                  <a:lnTo>
                    <a:pt x="0" y="23571"/>
                  </a:lnTo>
                  <a:lnTo>
                    <a:pt x="6797" y="30365"/>
                  </a:lnTo>
                  <a:lnTo>
                    <a:pt x="15183" y="30365"/>
                  </a:lnTo>
                  <a:lnTo>
                    <a:pt x="23568" y="30365"/>
                  </a:lnTo>
                  <a:lnTo>
                    <a:pt x="30367" y="23571"/>
                  </a:lnTo>
                  <a:lnTo>
                    <a:pt x="30367" y="15189"/>
                  </a:lnTo>
                  <a:close/>
                </a:path>
              </a:pathLst>
            </a:custGeom>
            <a:ln w="5059">
              <a:solidFill>
                <a:srgbClr val="ACA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81104" y="301266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39" y="50800"/>
                  </a:moveTo>
                  <a:lnTo>
                    <a:pt x="50399" y="48793"/>
                  </a:lnTo>
                  <a:lnTo>
                    <a:pt x="58487" y="43345"/>
                  </a:lnTo>
                  <a:lnTo>
                    <a:pt x="64001" y="35267"/>
                  </a:lnTo>
                  <a:lnTo>
                    <a:pt x="66039" y="25400"/>
                  </a:lnTo>
                  <a:lnTo>
                    <a:pt x="64035" y="15532"/>
                  </a:lnTo>
                  <a:lnTo>
                    <a:pt x="58578" y="7467"/>
                  </a:lnTo>
                  <a:lnTo>
                    <a:pt x="50501" y="2006"/>
                  </a:lnTo>
                  <a:lnTo>
                    <a:pt x="40639" y="0"/>
                  </a:lnTo>
                  <a:lnTo>
                    <a:pt x="30777" y="2006"/>
                  </a:lnTo>
                  <a:lnTo>
                    <a:pt x="22700" y="7467"/>
                  </a:lnTo>
                  <a:lnTo>
                    <a:pt x="17244" y="15532"/>
                  </a:lnTo>
                  <a:lnTo>
                    <a:pt x="15239" y="25400"/>
                  </a:lnTo>
                </a:path>
                <a:path w="233679" h="50800">
                  <a:moveTo>
                    <a:pt x="30479" y="17780"/>
                  </a:moveTo>
                  <a:lnTo>
                    <a:pt x="15239" y="30480"/>
                  </a:lnTo>
                  <a:lnTo>
                    <a:pt x="0" y="17780"/>
                  </a:lnTo>
                </a:path>
                <a:path w="233679" h="50800">
                  <a:moveTo>
                    <a:pt x="193041" y="50800"/>
                  </a:moveTo>
                  <a:lnTo>
                    <a:pt x="183179" y="48793"/>
                  </a:lnTo>
                  <a:lnTo>
                    <a:pt x="175102" y="43345"/>
                  </a:lnTo>
                  <a:lnTo>
                    <a:pt x="169645" y="35267"/>
                  </a:lnTo>
                  <a:lnTo>
                    <a:pt x="167641" y="25400"/>
                  </a:lnTo>
                  <a:lnTo>
                    <a:pt x="169645" y="15532"/>
                  </a:lnTo>
                  <a:lnTo>
                    <a:pt x="175102" y="7467"/>
                  </a:lnTo>
                  <a:lnTo>
                    <a:pt x="183179" y="2006"/>
                  </a:lnTo>
                  <a:lnTo>
                    <a:pt x="193041" y="0"/>
                  </a:lnTo>
                  <a:lnTo>
                    <a:pt x="202904" y="2006"/>
                  </a:lnTo>
                  <a:lnTo>
                    <a:pt x="210981" y="7467"/>
                  </a:lnTo>
                  <a:lnTo>
                    <a:pt x="216437" y="15532"/>
                  </a:lnTo>
                  <a:lnTo>
                    <a:pt x="218442" y="25400"/>
                  </a:lnTo>
                </a:path>
                <a:path w="233679" h="50800">
                  <a:moveTo>
                    <a:pt x="233681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59">
              <a:solidFill>
                <a:srgbClr val="ACA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0" y="0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Executive</a:t>
            </a:r>
            <a:r>
              <a:rPr spc="-50" dirty="0"/>
              <a:t> </a:t>
            </a:r>
            <a:r>
              <a:rPr spc="-10" dirty="0"/>
              <a:t>Summary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644436"/>
            <a:ext cx="78713" cy="7871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845094"/>
            <a:ext cx="78713" cy="7871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217814"/>
            <a:ext cx="78713" cy="7871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590547"/>
            <a:ext cx="78713" cy="7871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651" y="1963267"/>
            <a:ext cx="78713" cy="7871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651" y="2539784"/>
            <a:ext cx="78713" cy="7871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651" y="2912503"/>
            <a:ext cx="78713" cy="7871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25843" y="341180"/>
            <a:ext cx="5445760" cy="25546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latin typeface="Arial Black"/>
                <a:cs typeface="Arial Black"/>
              </a:rPr>
              <a:t>Methodology:</a:t>
            </a:r>
            <a:endParaRPr sz="1100">
              <a:latin typeface="Arial Black"/>
              <a:cs typeface="Arial Black"/>
            </a:endParaRPr>
          </a:p>
          <a:p>
            <a:pPr marL="289560" marR="83185" algn="just">
              <a:lnSpc>
                <a:spcPts val="1520"/>
              </a:lnSpc>
              <a:spcBef>
                <a:spcPts val="50"/>
              </a:spcBef>
            </a:pPr>
            <a:r>
              <a:rPr sz="1100" spc="-20" dirty="0">
                <a:latin typeface="Arial Black"/>
                <a:cs typeface="Arial Black"/>
              </a:rPr>
              <a:t>Data</a:t>
            </a:r>
            <a:r>
              <a:rPr sz="1100" dirty="0">
                <a:latin typeface="Arial Black"/>
                <a:cs typeface="Arial Black"/>
              </a:rPr>
              <a:t> </a:t>
            </a:r>
            <a:r>
              <a:rPr sz="1100" spc="-55" dirty="0">
                <a:latin typeface="Arial Black"/>
                <a:cs typeface="Arial Black"/>
              </a:rPr>
              <a:t>Collection:</a:t>
            </a:r>
            <a:r>
              <a:rPr sz="1100" spc="25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"/>
                <a:cs typeface="Arial"/>
              </a:rPr>
              <a:t>Utilized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SpaceX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API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Scraping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Wikipedia. </a:t>
            </a:r>
            <a:r>
              <a:rPr sz="1100" dirty="0">
                <a:latin typeface="Arial Black"/>
                <a:cs typeface="Arial Black"/>
              </a:rPr>
              <a:t>Data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Wrangling:</a:t>
            </a:r>
            <a:r>
              <a:rPr sz="1100" spc="7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"/>
                <a:cs typeface="Arial"/>
              </a:rPr>
              <a:t>Cleaned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data,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handled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missing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values,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applied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One-</a:t>
            </a:r>
            <a:r>
              <a:rPr sz="1100" spc="-25" dirty="0">
                <a:latin typeface="Arial"/>
                <a:cs typeface="Arial"/>
              </a:rPr>
              <a:t>Hot </a:t>
            </a:r>
            <a:r>
              <a:rPr sz="1100" spc="-35" dirty="0">
                <a:latin typeface="Arial"/>
                <a:cs typeface="Arial"/>
              </a:rPr>
              <a:t>Encoding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using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Pandas.</a:t>
            </a:r>
            <a:endParaRPr sz="1100">
              <a:latin typeface="Arial"/>
              <a:cs typeface="Arial"/>
            </a:endParaRPr>
          </a:p>
          <a:p>
            <a:pPr marL="289560" marR="173355">
              <a:lnSpc>
                <a:spcPct val="106300"/>
              </a:lnSpc>
              <a:spcBef>
                <a:spcPts val="204"/>
              </a:spcBef>
            </a:pPr>
            <a:r>
              <a:rPr sz="1100" spc="-70" dirty="0">
                <a:latin typeface="Arial Black"/>
                <a:cs typeface="Arial Black"/>
              </a:rPr>
              <a:t>EDA:</a:t>
            </a:r>
            <a:r>
              <a:rPr sz="1100" spc="140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"/>
                <a:cs typeface="Arial"/>
              </a:rPr>
              <a:t>Conducted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Exploratory</a:t>
            </a:r>
            <a:r>
              <a:rPr sz="1100" spc="1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Analysis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SQL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(DB2)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Visualization </a:t>
            </a:r>
            <a:r>
              <a:rPr sz="1100" spc="-10" dirty="0">
                <a:latin typeface="Arial"/>
                <a:cs typeface="Arial"/>
              </a:rPr>
              <a:t>(Matplotlib/Seaborn).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6200"/>
              </a:lnSpc>
              <a:spcBef>
                <a:spcPts val="180"/>
              </a:spcBef>
            </a:pPr>
            <a:r>
              <a:rPr sz="1100" spc="-65" dirty="0">
                <a:latin typeface="Arial Black"/>
                <a:cs typeface="Arial Black"/>
              </a:rPr>
              <a:t>Interactive</a:t>
            </a:r>
            <a:r>
              <a:rPr sz="1100" spc="-50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Analytics: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"/>
                <a:cs typeface="Arial"/>
              </a:rPr>
              <a:t>Built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interactive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maps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Folium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dashboards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with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Plotly Dash.</a:t>
            </a:r>
            <a:endParaRPr sz="1100">
              <a:latin typeface="Arial"/>
              <a:cs typeface="Arial"/>
            </a:endParaRPr>
          </a:p>
          <a:p>
            <a:pPr marL="289560" marR="17780">
              <a:lnSpc>
                <a:spcPct val="106200"/>
              </a:lnSpc>
              <a:spcBef>
                <a:spcPts val="175"/>
              </a:spcBef>
            </a:pPr>
            <a:r>
              <a:rPr sz="1100" spc="-65" dirty="0">
                <a:latin typeface="Arial Black"/>
                <a:cs typeface="Arial Black"/>
              </a:rPr>
              <a:t>Predictive</a:t>
            </a:r>
            <a:r>
              <a:rPr sz="1100" spc="60" dirty="0">
                <a:latin typeface="Arial Black"/>
                <a:cs typeface="Arial Black"/>
              </a:rPr>
              <a:t> </a:t>
            </a:r>
            <a:r>
              <a:rPr sz="1100" spc="-50" dirty="0">
                <a:latin typeface="Arial Black"/>
                <a:cs typeface="Arial Black"/>
              </a:rPr>
              <a:t>Analysis:</a:t>
            </a:r>
            <a:r>
              <a:rPr sz="1100" spc="100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Arial"/>
                <a:cs typeface="Arial"/>
              </a:rPr>
              <a:t>Trained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Logistic</a:t>
            </a:r>
            <a:r>
              <a:rPr sz="1100" spc="8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Regression,</a:t>
            </a:r>
            <a:r>
              <a:rPr sz="1100" spc="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SVM,</a:t>
            </a:r>
            <a:r>
              <a:rPr sz="1100" spc="9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Decision</a:t>
            </a:r>
            <a:r>
              <a:rPr sz="1100" spc="8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Tree,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1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KNN </a:t>
            </a:r>
            <a:r>
              <a:rPr sz="1100" spc="-10" dirty="0">
                <a:latin typeface="Arial"/>
                <a:cs typeface="Arial"/>
              </a:rPr>
              <a:t>models.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0" dirty="0">
                <a:latin typeface="Arial Black"/>
                <a:cs typeface="Arial Black"/>
              </a:rPr>
              <a:t>Key</a:t>
            </a:r>
            <a:r>
              <a:rPr sz="1100" spc="-18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Results:</a:t>
            </a:r>
            <a:endParaRPr sz="1100">
              <a:latin typeface="Arial Black"/>
              <a:cs typeface="Arial Black"/>
            </a:endParaRPr>
          </a:p>
          <a:p>
            <a:pPr marL="289560" marR="305435">
              <a:lnSpc>
                <a:spcPts val="1650"/>
              </a:lnSpc>
              <a:spcBef>
                <a:spcPts val="55"/>
              </a:spcBef>
            </a:pPr>
            <a:r>
              <a:rPr sz="1100" spc="-40" dirty="0">
                <a:latin typeface="Arial"/>
                <a:cs typeface="Arial"/>
              </a:rPr>
              <a:t>The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Decision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Tree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model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achieved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highest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prediction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accuracy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test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 </a:t>
            </a:r>
            <a:r>
              <a:rPr sz="1100" spc="-20" dirty="0">
                <a:latin typeface="Arial"/>
                <a:cs typeface="Arial"/>
              </a:rPr>
              <a:t>Payload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mass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launch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site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significant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indicators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landing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succe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sz="1100" spc="-10" dirty="0">
                <a:latin typeface="Arial"/>
                <a:cs typeface="Arial"/>
              </a:rPr>
              <a:t>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-12700" y="3116140"/>
            <a:ext cx="347916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916430" algn="l"/>
              </a:tabLst>
            </a:pP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[Your</a:t>
            </a:r>
            <a:r>
              <a:rPr sz="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 Here]</a:t>
            </a:r>
            <a:r>
              <a:rPr sz="6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(Coursera</a:t>
            </a: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IBM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Profe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	ssional</a:t>
            </a:r>
            <a:r>
              <a:rPr sz="600" spc="1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 action="ppaction://hlinksldjump"/>
              </a:rPr>
              <a:t>Data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 action="ppaction://hlinksldjump"/>
              </a:rPr>
              <a:t>Science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 action="ppaction://hlinksldjump"/>
              </a:rPr>
              <a:t>Capstone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 action="ppaction://hlinksldjump"/>
              </a:rPr>
              <a:t>Project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 action="ppaction://hlinksldjump"/>
              </a:rPr>
              <a:t>Repor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3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5" dirty="0"/>
              <a:t> </a:t>
            </a:r>
            <a:r>
              <a:rPr spc="-25" dirty="0"/>
              <a:t>Collection</a:t>
            </a:r>
            <a:r>
              <a:rPr spc="-7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SpaceX</a:t>
            </a:r>
            <a:r>
              <a:rPr spc="-55" dirty="0"/>
              <a:t>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096072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306106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516138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726171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3" y="805938"/>
            <a:ext cx="5126990" cy="1788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10" dirty="0">
                <a:latin typeface="Arial Black"/>
                <a:cs typeface="Arial Black"/>
              </a:rPr>
              <a:t>Process </a:t>
            </a:r>
            <a:r>
              <a:rPr sz="1100" spc="-10" dirty="0">
                <a:latin typeface="Arial Black"/>
                <a:cs typeface="Arial Black"/>
              </a:rPr>
              <a:t>Overview:</a:t>
            </a:r>
            <a:endParaRPr sz="1100" dirty="0">
              <a:latin typeface="Arial Black"/>
              <a:cs typeface="Arial Black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35" dirty="0">
                <a:latin typeface="Arial"/>
                <a:cs typeface="Arial"/>
              </a:rPr>
              <a:t>Requested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rocket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launch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from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SpaceX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REST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API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using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60" dirty="0">
                <a:latin typeface="Georgia"/>
                <a:cs typeface="Georgia"/>
              </a:rPr>
              <a:t>requests.get()</a:t>
            </a:r>
            <a:r>
              <a:rPr sz="1100" spc="6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89560" marR="87630">
              <a:lnSpc>
                <a:spcPct val="129200"/>
              </a:lnSpc>
            </a:pPr>
            <a:r>
              <a:rPr sz="1100" spc="-35" dirty="0">
                <a:latin typeface="Arial"/>
                <a:cs typeface="Arial"/>
              </a:rPr>
              <a:t>Converted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JSON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response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into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Pandas</a:t>
            </a:r>
            <a:r>
              <a:rPr sz="1100" spc="-30" dirty="0">
                <a:latin typeface="Arial"/>
                <a:cs typeface="Arial"/>
              </a:rPr>
              <a:t> DataFrame</a:t>
            </a:r>
            <a:r>
              <a:rPr sz="1100" spc="-35" dirty="0">
                <a:latin typeface="Arial"/>
                <a:cs typeface="Arial"/>
              </a:rPr>
              <a:t> using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Georgia"/>
                <a:cs typeface="Georgia"/>
              </a:rPr>
              <a:t>json_normalize</a:t>
            </a:r>
            <a:r>
              <a:rPr sz="1100" spc="-10" dirty="0">
                <a:latin typeface="Arial"/>
                <a:cs typeface="Arial"/>
              </a:rPr>
              <a:t>. </a:t>
            </a:r>
            <a:r>
              <a:rPr sz="1100" spc="-35" dirty="0">
                <a:latin typeface="Arial"/>
                <a:cs typeface="Arial"/>
              </a:rPr>
              <a:t>Filtered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only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Falcon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9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launches.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665"/>
              </a:spcBef>
            </a:pPr>
            <a:r>
              <a:rPr sz="1100" spc="-35" dirty="0">
                <a:latin typeface="Arial"/>
                <a:cs typeface="Arial"/>
              </a:rPr>
              <a:t>Replaced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missing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Payload</a:t>
            </a:r>
            <a:r>
              <a:rPr sz="1100" spc="-25" dirty="0">
                <a:latin typeface="Arial"/>
                <a:cs typeface="Arial"/>
              </a:rPr>
              <a:t> Mass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values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calculated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mean.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Arial Black"/>
                <a:cs typeface="Arial Black"/>
              </a:rPr>
              <a:t>GitHub</a:t>
            </a:r>
            <a:r>
              <a:rPr sz="1100" spc="-100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URL</a:t>
            </a:r>
            <a:r>
              <a:rPr sz="1100" spc="-160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Arial Black"/>
                <a:cs typeface="Arial Black"/>
              </a:rPr>
              <a:t>for</a:t>
            </a:r>
            <a:r>
              <a:rPr sz="1100" spc="-60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API</a:t>
            </a:r>
            <a:r>
              <a:rPr sz="1100" spc="-12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Notebook: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dirty="0">
                <a:latin typeface="Calibri"/>
                <a:cs typeface="Calibri"/>
              </a:rPr>
              <a:t>https://github.com/huyennt92/IBM-Data-Science-Capstone/blob/main/jupyter-labs-spacex-data-collection-api.ipynb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4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spc="-25" dirty="0"/>
              <a:t>Collection</a:t>
            </a:r>
            <a:r>
              <a:rPr spc="-5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Web</a:t>
            </a:r>
            <a:r>
              <a:rPr spc="-35" dirty="0"/>
              <a:t> </a:t>
            </a:r>
            <a:r>
              <a:rPr spc="-10" dirty="0"/>
              <a:t>Scraping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027238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237270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447304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657337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3" y="737116"/>
            <a:ext cx="4764405" cy="1965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10" dirty="0">
                <a:latin typeface="Arial Black"/>
                <a:cs typeface="Arial Black"/>
              </a:rPr>
              <a:t>Process </a:t>
            </a:r>
            <a:r>
              <a:rPr sz="1100" spc="-10" dirty="0">
                <a:latin typeface="Arial Black"/>
                <a:cs typeface="Arial Black"/>
              </a:rPr>
              <a:t>Overview:</a:t>
            </a:r>
            <a:endParaRPr sz="1100" dirty="0">
              <a:latin typeface="Arial Black"/>
              <a:cs typeface="Arial Black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35" dirty="0">
                <a:latin typeface="Arial"/>
                <a:cs typeface="Arial"/>
              </a:rPr>
              <a:t>Requested </a:t>
            </a:r>
            <a:r>
              <a:rPr sz="1100" spc="-40" dirty="0">
                <a:latin typeface="Arial"/>
                <a:cs typeface="Arial"/>
              </a:rPr>
              <a:t>historical</a:t>
            </a:r>
            <a:r>
              <a:rPr sz="1100" spc="-35" dirty="0">
                <a:latin typeface="Arial"/>
                <a:cs typeface="Arial"/>
              </a:rPr>
              <a:t> Falcon </a:t>
            </a:r>
            <a:r>
              <a:rPr sz="1100" spc="-10" dirty="0">
                <a:latin typeface="Arial"/>
                <a:cs typeface="Arial"/>
              </a:rPr>
              <a:t>9</a:t>
            </a:r>
            <a:r>
              <a:rPr sz="1100" spc="-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launch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records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from </a:t>
            </a:r>
            <a:r>
              <a:rPr sz="1100" spc="-10" dirty="0">
                <a:latin typeface="Arial"/>
                <a:cs typeface="Arial"/>
              </a:rPr>
              <a:t>Wikipedia.</a:t>
            </a:r>
            <a:endParaRPr sz="1100" dirty="0">
              <a:latin typeface="Arial"/>
              <a:cs typeface="Arial"/>
            </a:endParaRPr>
          </a:p>
          <a:p>
            <a:pPr marL="288925" marR="853440">
              <a:lnSpc>
                <a:spcPct val="129200"/>
              </a:lnSpc>
            </a:pPr>
            <a:r>
              <a:rPr sz="1100" spc="-10" dirty="0">
                <a:latin typeface="Arial"/>
                <a:cs typeface="Arial"/>
              </a:rPr>
              <a:t>Parsed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HTML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response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using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Georgia"/>
                <a:cs typeface="Georgia"/>
              </a:rPr>
              <a:t>BeautifulSoup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Arial"/>
                <a:cs typeface="Arial"/>
              </a:rPr>
              <a:t>library. </a:t>
            </a:r>
            <a:r>
              <a:rPr sz="1100" spc="-35" dirty="0">
                <a:latin typeface="Arial"/>
                <a:cs typeface="Arial"/>
              </a:rPr>
              <a:t>Extracted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names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from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HTML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headers 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spc="-10" dirty="0">
                <a:latin typeface="Georgia"/>
                <a:cs typeface="Georgia"/>
              </a:rPr>
              <a:t>&lt;th&gt;</a:t>
            </a:r>
            <a:r>
              <a:rPr sz="1100" spc="-10" dirty="0">
                <a:latin typeface="Arial"/>
                <a:cs typeface="Arial"/>
              </a:rPr>
              <a:t>).</a:t>
            </a:r>
            <a:endParaRPr sz="1100" dirty="0">
              <a:latin typeface="Arial"/>
              <a:cs typeface="Arial"/>
            </a:endParaRPr>
          </a:p>
          <a:p>
            <a:pPr marL="289560" marR="5080">
              <a:lnSpc>
                <a:spcPct val="105800"/>
              </a:lnSpc>
              <a:spcBef>
                <a:spcPts val="570"/>
              </a:spcBef>
            </a:pPr>
            <a:r>
              <a:rPr sz="1100" spc="-20" dirty="0">
                <a:latin typeface="Arial"/>
                <a:cs typeface="Arial"/>
              </a:rPr>
              <a:t>Iterated</a:t>
            </a:r>
            <a:r>
              <a:rPr sz="1100" spc="-30" dirty="0">
                <a:latin typeface="Arial"/>
                <a:cs typeface="Arial"/>
              </a:rPr>
              <a:t> through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</a:t>
            </a:r>
            <a:r>
              <a:rPr sz="1100" spc="-35" dirty="0">
                <a:latin typeface="Arial"/>
                <a:cs typeface="Arial"/>
              </a:rPr>
              <a:t> rows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dirty="0">
                <a:latin typeface="Georgia"/>
                <a:cs typeface="Georgia"/>
              </a:rPr>
              <a:t>&lt;tr&gt;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cells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spc="-10" dirty="0">
                <a:latin typeface="Georgia"/>
                <a:cs typeface="Georgia"/>
              </a:rPr>
              <a:t>&lt;td&gt;</a:t>
            </a:r>
            <a:r>
              <a:rPr sz="1100" spc="-10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construct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structured </a:t>
            </a:r>
            <a:r>
              <a:rPr sz="1100" spc="-20" dirty="0">
                <a:latin typeface="Arial"/>
                <a:cs typeface="Arial"/>
              </a:rPr>
              <a:t>Pandas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DataFrame.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Arial Black"/>
                <a:cs typeface="Arial Black"/>
              </a:rPr>
              <a:t>GitHub</a:t>
            </a:r>
            <a:r>
              <a:rPr sz="1100" spc="-95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URL</a:t>
            </a:r>
            <a:r>
              <a:rPr sz="1100" spc="-155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Arial Black"/>
                <a:cs typeface="Arial Black"/>
              </a:rPr>
              <a:t>for</a:t>
            </a:r>
            <a:r>
              <a:rPr sz="1100" spc="-55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Web</a:t>
            </a:r>
            <a:r>
              <a:rPr sz="1100" spc="-110" dirty="0">
                <a:latin typeface="Arial Black"/>
                <a:cs typeface="Arial Black"/>
              </a:rPr>
              <a:t> </a:t>
            </a:r>
            <a:r>
              <a:rPr sz="1100" spc="-85" dirty="0">
                <a:latin typeface="Arial Black"/>
                <a:cs typeface="Arial Black"/>
              </a:rPr>
              <a:t>Scraping</a:t>
            </a:r>
            <a:r>
              <a:rPr sz="1100" spc="-12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Notebook: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Calibri"/>
                <a:cs typeface="Calibri"/>
              </a:rPr>
              <a:t>https://github.com/huyennt92/IBM-Data-Science-Capstone/blob/main/jupyter-labs-webscraping.ipynb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12700" y="3116140"/>
            <a:ext cx="3479165" cy="9746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916430" algn="l"/>
              </a:tabLst>
            </a:pP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[Yor</a:t>
            </a:r>
            <a:r>
              <a:rPr sz="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 Here]</a:t>
            </a:r>
            <a:r>
              <a:rPr sz="6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(Coursera</a:t>
            </a: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IBM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Profe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	ssional</a:t>
            </a:r>
            <a:r>
              <a:rPr sz="600" spc="1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 action="ppaction://hlinksldjump"/>
              </a:rPr>
              <a:t>Data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 action="ppaction://hlinksldjump"/>
              </a:rPr>
              <a:t>Science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 action="ppaction://hlinksldjump"/>
              </a:rPr>
              <a:t>Capstone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 action="ppaction://hlinksldjump"/>
              </a:rPr>
              <a:t>Project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 action="ppaction://hlinksldjump"/>
              </a:rPr>
              <a:t>Repor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0" dirty="0"/>
              <a:t>5</a:t>
            </a:fld>
            <a:r>
              <a:rPr spc="-20" dirty="0"/>
              <a:t>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Wrangling</a:t>
            </a:r>
            <a:r>
              <a:rPr spc="-60" dirty="0"/>
              <a:t> </a:t>
            </a:r>
            <a:r>
              <a:rPr spc="-10" dirty="0"/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958418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340523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550555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932660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3" y="619956"/>
            <a:ext cx="4996180" cy="218752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spc="-75" dirty="0">
                <a:latin typeface="Arial Black"/>
                <a:cs typeface="Arial Black"/>
              </a:rPr>
              <a:t>Cleaning</a:t>
            </a:r>
            <a:r>
              <a:rPr sz="1100" spc="-90" dirty="0">
                <a:latin typeface="Arial Black"/>
                <a:cs typeface="Arial Black"/>
              </a:rPr>
              <a:t> </a:t>
            </a:r>
            <a:r>
              <a:rPr sz="1100" spc="-50" dirty="0">
                <a:latin typeface="Arial Black"/>
                <a:cs typeface="Arial Black"/>
              </a:rPr>
              <a:t>and</a:t>
            </a:r>
            <a:r>
              <a:rPr sz="1100" spc="-7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Processing:</a:t>
            </a:r>
            <a:endParaRPr sz="1100" dirty="0">
              <a:latin typeface="Arial Black"/>
              <a:cs typeface="Arial Black"/>
            </a:endParaRPr>
          </a:p>
          <a:p>
            <a:pPr marL="288925">
              <a:lnSpc>
                <a:spcPct val="100000"/>
              </a:lnSpc>
              <a:spcBef>
                <a:spcPts val="380"/>
              </a:spcBef>
            </a:pPr>
            <a:r>
              <a:rPr sz="1100" spc="-40" dirty="0">
                <a:latin typeface="Arial"/>
                <a:cs typeface="Arial"/>
              </a:rPr>
              <a:t>Calculated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number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successful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failed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landings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based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Georgia"/>
                <a:cs typeface="Georgia"/>
              </a:rPr>
              <a:t>Outcome</a:t>
            </a:r>
            <a:endParaRPr sz="1100" dirty="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latin typeface="Arial"/>
                <a:cs typeface="Arial"/>
              </a:rPr>
              <a:t>column.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35" dirty="0">
                <a:latin typeface="Arial"/>
                <a:cs typeface="Arial"/>
              </a:rPr>
              <a:t>Created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new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binary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target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variable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Georgia"/>
                <a:cs typeface="Georgia"/>
              </a:rPr>
              <a:t>Class</a:t>
            </a:r>
            <a:r>
              <a:rPr sz="1100" spc="150" dirty="0">
                <a:latin typeface="Georgia"/>
                <a:cs typeface="Georgia"/>
              </a:rPr>
              <a:t> </a:t>
            </a:r>
            <a:r>
              <a:rPr sz="1100" spc="-40" dirty="0">
                <a:latin typeface="Arial"/>
                <a:cs typeface="Arial"/>
              </a:rPr>
              <a:t>(1</a:t>
            </a:r>
            <a:r>
              <a:rPr sz="1100" spc="-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Success,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Failure).</a:t>
            </a:r>
            <a:endParaRPr sz="1100" dirty="0">
              <a:latin typeface="Arial"/>
              <a:cs typeface="Arial"/>
            </a:endParaRPr>
          </a:p>
          <a:p>
            <a:pPr marL="289560" marR="5080">
              <a:lnSpc>
                <a:spcPct val="106200"/>
              </a:lnSpc>
              <a:spcBef>
                <a:spcPts val="229"/>
              </a:spcBef>
            </a:pPr>
            <a:r>
              <a:rPr sz="1100" spc="-45" dirty="0">
                <a:latin typeface="Arial"/>
                <a:cs typeface="Arial"/>
              </a:rPr>
              <a:t>Applied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One-</a:t>
            </a:r>
            <a:r>
              <a:rPr sz="1100" spc="-45" dirty="0">
                <a:latin typeface="Arial Black"/>
                <a:cs typeface="Arial Black"/>
              </a:rPr>
              <a:t>Hot</a:t>
            </a:r>
            <a:r>
              <a:rPr sz="1100" spc="-55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Encoding</a:t>
            </a:r>
            <a:r>
              <a:rPr sz="1100" spc="-85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Arial"/>
                <a:cs typeface="Arial"/>
              </a:rPr>
              <a:t>using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Georgia"/>
                <a:cs typeface="Georgia"/>
              </a:rPr>
              <a:t>pd.get_dummies()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-2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categorical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 </a:t>
            </a:r>
            <a:r>
              <a:rPr sz="1100" spc="-35" dirty="0">
                <a:latin typeface="Arial"/>
                <a:cs typeface="Arial"/>
              </a:rPr>
              <a:t>such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Georgia"/>
                <a:cs typeface="Georgia"/>
              </a:rPr>
              <a:t>Orbit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Georgia"/>
                <a:cs typeface="Georgia"/>
              </a:rPr>
              <a:t>LaunchSite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Georgia"/>
                <a:cs typeface="Georgia"/>
              </a:rPr>
              <a:t>LandingPad</a:t>
            </a:r>
            <a:r>
              <a:rPr sz="1100" spc="-45" dirty="0">
                <a:latin typeface="Arial"/>
                <a:cs typeface="Arial"/>
              </a:rPr>
              <a:t>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50" dirty="0">
                <a:latin typeface="Georgia"/>
                <a:cs typeface="Georgia"/>
              </a:rPr>
              <a:t>Serial</a:t>
            </a:r>
            <a:r>
              <a:rPr sz="1100" spc="5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1100" spc="-45" dirty="0">
                <a:latin typeface="Arial"/>
                <a:cs typeface="Arial"/>
              </a:rPr>
              <a:t>Cast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all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numerical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features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75" dirty="0">
                <a:latin typeface="Georgia"/>
                <a:cs typeface="Georgia"/>
              </a:rPr>
              <a:t>float64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prepare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Machine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Learning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models.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Arial Black"/>
                <a:cs typeface="Arial Black"/>
              </a:rPr>
              <a:t>GitHub</a:t>
            </a:r>
            <a:r>
              <a:rPr sz="1100" spc="-85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URL</a:t>
            </a:r>
            <a:r>
              <a:rPr sz="1100" spc="-150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Arial Black"/>
                <a:cs typeface="Arial Black"/>
              </a:rPr>
              <a:t>for</a:t>
            </a:r>
            <a:r>
              <a:rPr sz="1100" spc="-50" dirty="0">
                <a:latin typeface="Arial Black"/>
                <a:cs typeface="Arial Black"/>
              </a:rPr>
              <a:t> </a:t>
            </a:r>
            <a:r>
              <a:rPr sz="1100" spc="-55" dirty="0">
                <a:latin typeface="Arial Black"/>
                <a:cs typeface="Arial Black"/>
              </a:rPr>
              <a:t>Data</a:t>
            </a:r>
            <a:r>
              <a:rPr sz="1100" spc="-80" dirty="0">
                <a:latin typeface="Arial Black"/>
                <a:cs typeface="Arial Black"/>
              </a:rPr>
              <a:t> </a:t>
            </a:r>
            <a:r>
              <a:rPr sz="1100" spc="-55" dirty="0">
                <a:latin typeface="Arial Black"/>
                <a:cs typeface="Arial Black"/>
              </a:rPr>
              <a:t>Wrangling</a:t>
            </a:r>
            <a:r>
              <a:rPr sz="1100" spc="-7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Notebook: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Calibri"/>
                <a:cs typeface="Calibri"/>
              </a:rPr>
              <a:t>https://github.com/huyennt92/IBM-Data-Science-Capstone/blob/main/labs-jupyter-spacex-Data%20wrangling.ipynb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6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90" dirty="0"/>
              <a:t> </a:t>
            </a:r>
            <a:r>
              <a:rPr spc="-10" dirty="0"/>
              <a:t>with</a:t>
            </a:r>
            <a:r>
              <a:rPr spc="-70" dirty="0"/>
              <a:t> </a:t>
            </a:r>
            <a:r>
              <a:rPr spc="-10" dirty="0"/>
              <a:t>Data</a:t>
            </a:r>
            <a:r>
              <a:rPr spc="-70" dirty="0"/>
              <a:t> </a:t>
            </a:r>
            <a:r>
              <a:rPr spc="-10" dirty="0"/>
              <a:t>Visualization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111261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493367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703400"/>
            <a:ext cx="78713" cy="787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39" y="777119"/>
            <a:ext cx="4812030" cy="20265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spc="-75" dirty="0">
                <a:latin typeface="Arial Black"/>
                <a:cs typeface="Arial Black"/>
              </a:rPr>
              <a:t>Charts</a:t>
            </a:r>
            <a:r>
              <a:rPr sz="1100" spc="-100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Used</a:t>
            </a:r>
            <a:r>
              <a:rPr sz="1100" spc="-120" dirty="0">
                <a:latin typeface="Arial Black"/>
                <a:cs typeface="Arial Black"/>
              </a:rPr>
              <a:t> </a:t>
            </a:r>
            <a:r>
              <a:rPr sz="1100" spc="-50" dirty="0">
                <a:latin typeface="Arial Black"/>
                <a:cs typeface="Arial Black"/>
              </a:rPr>
              <a:t>and</a:t>
            </a:r>
            <a:r>
              <a:rPr sz="1100" spc="-70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Their</a:t>
            </a:r>
            <a:r>
              <a:rPr sz="1100" spc="-8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Purpose:</a:t>
            </a:r>
            <a:endParaRPr sz="1100" dirty="0">
              <a:latin typeface="Arial Black"/>
              <a:cs typeface="Arial Black"/>
            </a:endParaRPr>
          </a:p>
          <a:p>
            <a:pPr marL="289560" marR="5080">
              <a:lnSpc>
                <a:spcPct val="106300"/>
              </a:lnSpc>
              <a:spcBef>
                <a:spcPts val="265"/>
              </a:spcBef>
            </a:pPr>
            <a:r>
              <a:rPr sz="1100" spc="-90" dirty="0">
                <a:latin typeface="Arial Black"/>
                <a:cs typeface="Arial Black"/>
              </a:rPr>
              <a:t>Scatter</a:t>
            </a:r>
            <a:r>
              <a:rPr sz="1100" spc="-95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Plots:</a:t>
            </a:r>
            <a:r>
              <a:rPr sz="1100" spc="70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"/>
                <a:cs typeface="Arial"/>
              </a:rPr>
              <a:t>Used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spc="-50" dirty="0">
                <a:latin typeface="Arial"/>
                <a:cs typeface="Arial"/>
              </a:rPr>
              <a:t>visualize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relationship</a:t>
            </a:r>
            <a:r>
              <a:rPr sz="1100" spc="-20" dirty="0">
                <a:latin typeface="Arial"/>
                <a:cs typeface="Arial"/>
              </a:rPr>
              <a:t> between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Calibri"/>
                <a:cs typeface="Calibri"/>
              </a:rPr>
              <a:t>Flight</a:t>
            </a:r>
            <a:r>
              <a:rPr sz="1100" i="1" spc="1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Number</a:t>
            </a:r>
            <a:r>
              <a:rPr sz="1100" i="1" spc="204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vs. </a:t>
            </a:r>
            <a:r>
              <a:rPr sz="1100" i="1" dirty="0">
                <a:latin typeface="Calibri"/>
                <a:cs typeface="Calibri"/>
              </a:rPr>
              <a:t>Launch</a:t>
            </a:r>
            <a:r>
              <a:rPr sz="1100" i="1" spc="2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Site</a:t>
            </a:r>
            <a:r>
              <a:rPr sz="1100" i="1" spc="145" dirty="0">
                <a:latin typeface="Calibri"/>
                <a:cs typeface="Calibri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Calibri"/>
                <a:cs typeface="Calibri"/>
              </a:rPr>
              <a:t>Payload</a:t>
            </a:r>
            <a:r>
              <a:rPr sz="1100" i="1" spc="1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Mass</a:t>
            </a:r>
            <a:r>
              <a:rPr sz="1100" i="1" spc="1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vs.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Launch</a:t>
            </a:r>
            <a:r>
              <a:rPr sz="1100" i="1" spc="2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Site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colored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landing</a:t>
            </a:r>
            <a:r>
              <a:rPr sz="1100" spc="-10" dirty="0">
                <a:latin typeface="Arial"/>
                <a:cs typeface="Arial"/>
              </a:rPr>
              <a:t> class.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409"/>
              </a:spcBef>
            </a:pPr>
            <a:r>
              <a:rPr sz="1100" spc="-60" dirty="0">
                <a:latin typeface="Arial Black"/>
                <a:cs typeface="Arial Black"/>
              </a:rPr>
              <a:t>Bar</a:t>
            </a:r>
            <a:r>
              <a:rPr sz="1100" spc="-95" dirty="0">
                <a:latin typeface="Arial Black"/>
                <a:cs typeface="Arial Black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Charts: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"/>
                <a:cs typeface="Arial"/>
              </a:rPr>
              <a:t>Used</a:t>
            </a:r>
            <a:r>
              <a:rPr sz="1100" spc="-25" dirty="0">
                <a:latin typeface="Arial"/>
                <a:cs typeface="Arial"/>
              </a:rPr>
              <a:t> 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display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success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rate</a:t>
            </a:r>
            <a:r>
              <a:rPr sz="1100" spc="-40" dirty="0">
                <a:latin typeface="Arial"/>
                <a:cs typeface="Arial"/>
              </a:rPr>
              <a:t> across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different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Calibri"/>
                <a:cs typeface="Calibri"/>
              </a:rPr>
              <a:t>Orbit</a:t>
            </a:r>
            <a:r>
              <a:rPr sz="1100" i="1" spc="185" dirty="0">
                <a:latin typeface="Calibri"/>
                <a:cs typeface="Calibri"/>
              </a:rPr>
              <a:t> </a:t>
            </a:r>
            <a:r>
              <a:rPr sz="1100" spc="-10" dirty="0">
                <a:latin typeface="Arial"/>
                <a:cs typeface="Arial"/>
              </a:rPr>
              <a:t>types.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84"/>
              </a:spcBef>
            </a:pPr>
            <a:r>
              <a:rPr sz="1100" spc="-70" dirty="0">
                <a:latin typeface="Arial Black"/>
                <a:cs typeface="Arial Black"/>
              </a:rPr>
              <a:t>Line</a:t>
            </a:r>
            <a:r>
              <a:rPr sz="1100" spc="-95" dirty="0">
                <a:latin typeface="Arial Black"/>
                <a:cs typeface="Arial Black"/>
              </a:rPr>
              <a:t> </a:t>
            </a:r>
            <a:r>
              <a:rPr sz="1100" spc="-55" dirty="0">
                <a:latin typeface="Arial Black"/>
                <a:cs typeface="Arial Black"/>
              </a:rPr>
              <a:t>Charts:</a:t>
            </a:r>
            <a:r>
              <a:rPr sz="110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"/>
                <a:cs typeface="Arial"/>
              </a:rPr>
              <a:t>Used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to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track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Calibri"/>
                <a:cs typeface="Calibri"/>
              </a:rPr>
              <a:t>success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rate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over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the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years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spc="-25" dirty="0">
                <a:latin typeface="Arial"/>
                <a:cs typeface="Arial"/>
              </a:rPr>
              <a:t>(annual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trends).</a:t>
            </a:r>
            <a:endParaRPr lang="en-US" sz="1100" spc="-1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84"/>
              </a:spcBef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Arial Black"/>
                <a:cs typeface="Arial Black"/>
              </a:rPr>
              <a:t>GitHub</a:t>
            </a:r>
            <a:r>
              <a:rPr sz="1100" spc="-80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URL</a:t>
            </a:r>
            <a:r>
              <a:rPr sz="1100" spc="-140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Arial Black"/>
                <a:cs typeface="Arial Black"/>
              </a:rPr>
              <a:t>for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EDA</a:t>
            </a:r>
            <a:r>
              <a:rPr sz="1100" spc="-150" dirty="0">
                <a:latin typeface="Arial Black"/>
                <a:cs typeface="Arial Black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Visualization</a:t>
            </a:r>
            <a:r>
              <a:rPr sz="1100" spc="-7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Notebook: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Calibri"/>
                <a:cs typeface="Calibri"/>
              </a:rPr>
              <a:t>https://github.com/huyennt92/IBM-Data-Science-Capstone/blob/main/jupyter-labs-eda-sql-coursera_sqllite.ipynb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12700" y="3116140"/>
            <a:ext cx="347916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916430" algn="l"/>
              </a:tabLst>
            </a:pP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[Your</a:t>
            </a:r>
            <a:r>
              <a:rPr sz="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 Here]</a:t>
            </a:r>
            <a:r>
              <a:rPr sz="6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(Coursera</a:t>
            </a: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IBM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Profe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	ssional</a:t>
            </a:r>
            <a:r>
              <a:rPr sz="600" spc="1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 action="ppaction://hlinksldjump"/>
              </a:rPr>
              <a:t>Data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 action="ppaction://hlinksldjump"/>
              </a:rPr>
              <a:t>Science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 action="ppaction://hlinksldjump"/>
              </a:rPr>
              <a:t>Capstone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 action="ppaction://hlinksldjump"/>
              </a:rPr>
              <a:t>Project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 action="ppaction://hlinksldjump"/>
              </a:rPr>
              <a:t>Repor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7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24936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45" dirty="0"/>
              <a:t> </a:t>
            </a:r>
            <a:r>
              <a:rPr spc="-30" dirty="0"/>
              <a:t>Visualization</a:t>
            </a:r>
            <a:r>
              <a:rPr spc="-55" dirty="0"/>
              <a:t> </a:t>
            </a:r>
            <a:r>
              <a:rPr spc="-10" dirty="0"/>
              <a:t>Results</a:t>
            </a:r>
            <a:r>
              <a:rPr lang="en-US" spc="-10" dirty="0"/>
              <a:t> 1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20496" y="885176"/>
            <a:ext cx="3919220" cy="584775"/>
          </a:xfrm>
          <a:prstGeom prst="rect">
            <a:avLst/>
          </a:prstGeom>
          <a:ln w="50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8</a:t>
            </a:fld>
            <a:r>
              <a:rPr spc="-10" dirty="0"/>
              <a:t>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F8FBFC-CAE5-5A49-83E2-D7A6EF05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425"/>
            <a:ext cx="5765800" cy="2209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AE31-31E2-5FE3-9BB5-0226D0C4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F772F4-CD63-38B5-80E5-3701E8B11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24936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45" dirty="0"/>
              <a:t> </a:t>
            </a:r>
            <a:r>
              <a:rPr spc="-30" dirty="0"/>
              <a:t>Visualization</a:t>
            </a:r>
            <a:r>
              <a:rPr spc="-55" dirty="0"/>
              <a:t> </a:t>
            </a:r>
            <a:r>
              <a:rPr spc="-10" dirty="0"/>
              <a:t>Results</a:t>
            </a:r>
            <a:r>
              <a:rPr lang="en-US" spc="-10" dirty="0"/>
              <a:t> 2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9BE9765-1374-4AA3-4446-4042D469D868}"/>
              </a:ext>
            </a:extLst>
          </p:cNvPr>
          <p:cNvSpPr txBox="1"/>
          <p:nvPr/>
        </p:nvSpPr>
        <p:spPr>
          <a:xfrm>
            <a:off x="-12700" y="3116140"/>
            <a:ext cx="347916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916430" algn="l"/>
              </a:tabLst>
            </a:pP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[Your</a:t>
            </a:r>
            <a:r>
              <a:rPr sz="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 Here]</a:t>
            </a:r>
            <a:r>
              <a:rPr sz="6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(Coursera</a:t>
            </a: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IBM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Profe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	ssional</a:t>
            </a:r>
            <a:r>
              <a:rPr sz="600" spc="1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Data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Science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Capstone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 action="ppaction://hlinksldjump"/>
              </a:rPr>
              <a:t>Repor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8D820D7-BD49-D5A9-E545-A9E2E00BAC3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5572DA-79CC-47D4-48DE-5D1E6037688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9</a:t>
            </a:fld>
            <a:r>
              <a:rPr spc="-10" dirty="0"/>
              <a:t>/14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77FB91-6CEB-331C-B75D-10C473162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09" y="498159"/>
            <a:ext cx="3557535" cy="22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31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AB8F-7F2A-CFC7-EF71-3192964D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99" y="43875"/>
            <a:ext cx="2493645" cy="215444"/>
          </a:xfrm>
        </p:spPr>
        <p:txBody>
          <a:bodyPr/>
          <a:lstStyle/>
          <a:p>
            <a:r>
              <a:rPr lang="fr-FR" dirty="0"/>
              <a:t>EDA </a:t>
            </a:r>
            <a:r>
              <a:rPr lang="fr-FR" dirty="0" err="1"/>
              <a:t>with</a:t>
            </a:r>
            <a:r>
              <a:rPr lang="fr-FR" dirty="0"/>
              <a:t> SQL</a:t>
            </a:r>
            <a:endParaRPr lang="en-00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E5363-AE98-9FB1-1528-50F3FC22B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842" y="721927"/>
            <a:ext cx="5639958" cy="1840119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0" dirty="0"/>
              <a:t>SQL</a:t>
            </a:r>
            <a:r>
              <a:rPr lang="en-US" spc="-165" dirty="0"/>
              <a:t> </a:t>
            </a:r>
            <a:r>
              <a:rPr lang="en-US" spc="-65" dirty="0"/>
              <a:t>Queries</a:t>
            </a:r>
            <a:r>
              <a:rPr lang="en-US" spc="-85" dirty="0"/>
              <a:t> </a:t>
            </a:r>
            <a:r>
              <a:rPr lang="en-US" spc="-10" dirty="0"/>
              <a:t>Performed: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Arial"/>
                <a:cs typeface="Arial"/>
              </a:rPr>
              <a:t>Queried unique Launch Sites from the database. 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Arial"/>
                <a:cs typeface="Arial"/>
              </a:rPr>
              <a:t>Calculated total Payload Mass carried by boosters.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Arial"/>
                <a:cs typeface="Arial"/>
              </a:rPr>
              <a:t>Counted successful landings at specific sites (e.g., CCAFS).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Arial"/>
                <a:cs typeface="Arial"/>
              </a:rPr>
              <a:t>Retrieved records of specific mission outcomes based on payload mass ranges.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Arial"/>
                <a:cs typeface="Arial"/>
              </a:rPr>
              <a:t>Ranked </a:t>
            </a:r>
            <a:r>
              <a:rPr lang="en-US" spc="-35" dirty="0">
                <a:latin typeface="Arial"/>
                <a:cs typeface="Arial"/>
              </a:rPr>
              <a:t>launch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spc="-40" dirty="0">
                <a:latin typeface="Arial"/>
                <a:cs typeface="Arial"/>
              </a:rPr>
              <a:t>sites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by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spc="-45" dirty="0">
                <a:latin typeface="Arial"/>
                <a:cs typeface="Arial"/>
              </a:rPr>
              <a:t>successful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spc="-35" dirty="0">
                <a:latin typeface="Arial"/>
                <a:cs typeface="Arial"/>
              </a:rPr>
              <a:t>landing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spc="-35" dirty="0">
                <a:latin typeface="Arial"/>
                <a:cs typeface="Arial"/>
              </a:rPr>
              <a:t>counts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spc="-35" dirty="0">
                <a:latin typeface="Arial"/>
                <a:cs typeface="Arial"/>
              </a:rPr>
              <a:t>using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spc="-165" dirty="0">
                <a:latin typeface="Georgia"/>
                <a:cs typeface="Georgia"/>
              </a:rPr>
              <a:t>GROUP</a:t>
            </a:r>
            <a:r>
              <a:rPr lang="en-US" spc="75" dirty="0">
                <a:latin typeface="Georgia"/>
                <a:cs typeface="Georgia"/>
              </a:rPr>
              <a:t> </a:t>
            </a:r>
            <a:r>
              <a:rPr lang="en-US" spc="-80" dirty="0">
                <a:latin typeface="Georgia"/>
                <a:cs typeface="Georgia"/>
              </a:rPr>
              <a:t>BY</a:t>
            </a:r>
            <a:r>
              <a:rPr lang="en-US" spc="-114" dirty="0">
                <a:latin typeface="Georgia"/>
                <a:cs typeface="Georgia"/>
              </a:rPr>
              <a:t> </a:t>
            </a:r>
            <a:r>
              <a:rPr lang="en-US" spc="-20" dirty="0">
                <a:latin typeface="Arial"/>
                <a:cs typeface="Arial"/>
              </a:rPr>
              <a:t>and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spc="-135" dirty="0">
                <a:latin typeface="Georgia"/>
                <a:cs typeface="Georgia"/>
              </a:rPr>
              <a:t>ORDER</a:t>
            </a:r>
            <a:r>
              <a:rPr lang="en-US" spc="170" dirty="0">
                <a:latin typeface="Georgia"/>
                <a:cs typeface="Georgia"/>
              </a:rPr>
              <a:t> </a:t>
            </a:r>
            <a:r>
              <a:rPr lang="en-US" spc="-25" dirty="0">
                <a:latin typeface="Georgia"/>
                <a:cs typeface="Georgia"/>
              </a:rPr>
              <a:t>BY</a:t>
            </a:r>
            <a:r>
              <a:rPr lang="en-US" spc="-25" dirty="0">
                <a:latin typeface="Arial"/>
                <a:cs typeface="Arial"/>
              </a:rPr>
              <a:t>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Arial"/>
                <a:cs typeface="Arial"/>
              </a:rPr>
              <a:t>Performed</a:t>
            </a:r>
            <a:r>
              <a:rPr lang="en-US" spc="-35" dirty="0">
                <a:latin typeface="Arial"/>
                <a:cs typeface="Arial"/>
              </a:rPr>
              <a:t> time analysis to observe successful landing trends over specific months/years</a:t>
            </a:r>
          </a:p>
          <a:p>
            <a:pPr marL="12700">
              <a:lnSpc>
                <a:spcPct val="100000"/>
              </a:lnSpc>
            </a:pPr>
            <a:r>
              <a:rPr lang="en-US" spc="-60" dirty="0"/>
              <a:t>GitHub</a:t>
            </a:r>
            <a:r>
              <a:rPr lang="en-US" spc="-95" dirty="0"/>
              <a:t> </a:t>
            </a:r>
            <a:r>
              <a:rPr lang="en-US" spc="-90" dirty="0"/>
              <a:t>URL</a:t>
            </a:r>
            <a:r>
              <a:rPr lang="en-US" spc="-160" dirty="0"/>
              <a:t> </a:t>
            </a:r>
            <a:r>
              <a:rPr lang="en-US" spc="-30" dirty="0"/>
              <a:t>for</a:t>
            </a:r>
            <a:r>
              <a:rPr lang="en-US" spc="-55" dirty="0"/>
              <a:t> </a:t>
            </a:r>
            <a:r>
              <a:rPr lang="en-US" spc="-100" dirty="0"/>
              <a:t>SQL</a:t>
            </a:r>
            <a:r>
              <a:rPr lang="en-US" spc="-175" dirty="0"/>
              <a:t> </a:t>
            </a:r>
            <a:r>
              <a:rPr lang="en-US" spc="-10" dirty="0"/>
              <a:t>Notebook: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i="1" dirty="0">
                <a:latin typeface="Calibri"/>
                <a:cs typeface="Calibri"/>
              </a:rPr>
              <a:t>https://github.com/huyennt92/IBM-Data-Science-Capstone/blob/main/jupyter-labs-eda-sql-coursera_sqllite.ipynb</a:t>
            </a:r>
            <a:endParaRPr lang="en-001" dirty="0"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DFB7955E-9901-FEF8-5139-C2A1686E0E1E}"/>
              </a:ext>
            </a:extLst>
          </p:cNvPr>
          <p:cNvSpPr txBox="1"/>
          <p:nvPr/>
        </p:nvSpPr>
        <p:spPr>
          <a:xfrm>
            <a:off x="-12700" y="3116140"/>
            <a:ext cx="347916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916430" algn="l"/>
              </a:tabLst>
            </a:pP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[Your</a:t>
            </a:r>
            <a:r>
              <a:rPr sz="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 Here]</a:t>
            </a:r>
            <a:r>
              <a:rPr sz="6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(Coursera</a:t>
            </a: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IBM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Profe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	ssional</a:t>
            </a:r>
            <a:r>
              <a:rPr sz="600" spc="1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3" action="ppaction://hlinksldjump"/>
              </a:rPr>
              <a:t>Data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3" action="ppaction://hlinksldjump"/>
              </a:rPr>
              <a:t>Science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3" action="ppaction://hlinksldjump"/>
              </a:rPr>
              <a:t>Capstone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3" action="ppaction://hlinksldjump"/>
              </a:rPr>
              <a:t>Project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3" action="ppaction://hlinksldjump"/>
              </a:rPr>
              <a:t>Repor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08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11</a:t>
            </a:fld>
            <a:r>
              <a:rPr spc="-10" dirty="0"/>
              <a:t>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E2E7E1-E89F-ACCB-1397-82C1577E5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99392"/>
            <a:ext cx="3923809" cy="21904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7522-7CC3-6F94-CE82-7EA97901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E61560-7C41-5B92-0952-DBE8B498E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5305E01-B2E3-42CA-446F-4C8475EFCD7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9A9C7D9-68D6-F608-CB67-CB4CF7364F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12</a:t>
            </a:fld>
            <a:r>
              <a:rPr spc="-10" dirty="0"/>
              <a:t>/14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833F23-DE82-D003-1C1C-AEEFC3347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4" y="577826"/>
            <a:ext cx="5765800" cy="20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47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AE8B-870C-4858-DF84-2BA876BF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CE94DF-9047-C084-881E-3F76E08A3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2DB84B3-537F-02AE-A57E-54432690DAB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A4B5B44-AB8F-88A9-7167-E822FA6091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13</a:t>
            </a:fld>
            <a:r>
              <a:rPr spc="-10" dirty="0"/>
              <a:t>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20A7B7-4BB9-F620-3090-95F315A3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450"/>
            <a:ext cx="5765800" cy="25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72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0579-CAE8-EECC-0FE7-B6F09FAF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8D82F7-F7D7-B7DD-3DB4-5BAD7A6A1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B603649-F285-8917-806C-58097E23303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A5D718B-34DD-5F56-A7C2-4F7A7123C84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14</a:t>
            </a:fld>
            <a:r>
              <a:rPr spc="-10" dirty="0"/>
              <a:t>/14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AB0181-A770-CAA5-60BF-B7ABAB721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69" y="348715"/>
            <a:ext cx="5397500" cy="269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06D8-C24A-659D-5405-7ACA5EA1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B33B9E-85F7-CED6-3435-C8306AD82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FDC4C02-2BFF-2D2E-5A7D-09A46160A6E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D2A3B22-F819-F9AA-8FA4-BB88C2D7487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15</a:t>
            </a:fld>
            <a:r>
              <a:rPr spc="-10" dirty="0"/>
              <a:t>/14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118BD4-A761-82FD-924C-3A5529956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399"/>
            <a:ext cx="5765800" cy="24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4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BD00-193D-981E-85A8-219AF801F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2BB698-D755-DCF9-4457-E99BEDBB2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FA6A52A-400D-8E6C-1F7A-7B76EF80478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C961655-4BBD-F6FB-7A89-C2846ED621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16</a:t>
            </a:fld>
            <a:r>
              <a:rPr spc="-10" dirty="0"/>
              <a:t>/14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B1C9F-0AD6-0D67-8284-50650E3C8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" y="324170"/>
            <a:ext cx="5555515" cy="1315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6D79C9-3E46-5D7D-2A6F-720F456E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8115"/>
            <a:ext cx="5315685" cy="149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63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60" dirty="0"/>
              <a:t> </a:t>
            </a:r>
            <a:r>
              <a:rPr spc="-25" dirty="0"/>
              <a:t>Visual</a:t>
            </a:r>
            <a:r>
              <a:rPr spc="-75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818399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028433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410550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2002688"/>
            <a:ext cx="78713" cy="787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651" y="2422753"/>
            <a:ext cx="78713" cy="787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651" y="2212720"/>
            <a:ext cx="78713" cy="787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3" y="479951"/>
            <a:ext cx="4947285" cy="254377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spc="-60" dirty="0">
                <a:latin typeface="Arial Black"/>
                <a:cs typeface="Arial Black"/>
              </a:rPr>
              <a:t>Folium</a:t>
            </a:r>
            <a:r>
              <a:rPr sz="1100" spc="-65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 Black"/>
                <a:cs typeface="Arial Black"/>
              </a:rPr>
              <a:t>Map:</a:t>
            </a:r>
            <a:endParaRPr sz="1100" dirty="0">
              <a:latin typeface="Arial Black"/>
              <a:cs typeface="Arial Black"/>
            </a:endParaRPr>
          </a:p>
          <a:p>
            <a:pPr marL="288925">
              <a:lnSpc>
                <a:spcPct val="100000"/>
              </a:lnSpc>
              <a:spcBef>
                <a:spcPts val="380"/>
              </a:spcBef>
            </a:pPr>
            <a:r>
              <a:rPr sz="1100" spc="-20" dirty="0">
                <a:latin typeface="Arial"/>
                <a:cs typeface="Arial"/>
              </a:rPr>
              <a:t>Plotted</a:t>
            </a:r>
            <a:r>
              <a:rPr sz="1100" spc="-35" dirty="0">
                <a:latin typeface="Arial"/>
                <a:cs typeface="Arial"/>
              </a:rPr>
              <a:t> Launch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Sites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interactive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map.</a:t>
            </a:r>
            <a:endParaRPr sz="1100" dirty="0">
              <a:latin typeface="Arial"/>
              <a:cs typeface="Arial"/>
            </a:endParaRPr>
          </a:p>
          <a:p>
            <a:pPr marL="288925" marR="405765">
              <a:lnSpc>
                <a:spcPct val="105800"/>
              </a:lnSpc>
              <a:spcBef>
                <a:spcPts val="219"/>
              </a:spcBef>
            </a:pPr>
            <a:r>
              <a:rPr sz="1100" spc="-40" dirty="0">
                <a:latin typeface="Arial"/>
                <a:cs typeface="Arial"/>
              </a:rPr>
              <a:t>Added </a:t>
            </a:r>
            <a:r>
              <a:rPr sz="1100" spc="-10" dirty="0">
                <a:latin typeface="Arial"/>
                <a:cs typeface="Arial"/>
              </a:rPr>
              <a:t>Marker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Clusters </a:t>
            </a:r>
            <a:r>
              <a:rPr sz="1100" spc="-25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differentiate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successful </a:t>
            </a:r>
            <a:r>
              <a:rPr sz="1100" spc="-30" dirty="0">
                <a:latin typeface="Arial"/>
                <a:cs typeface="Arial"/>
              </a:rPr>
              <a:t>(green)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failed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(red) launches.</a:t>
            </a:r>
            <a:endParaRPr sz="1100" dirty="0">
              <a:latin typeface="Arial"/>
              <a:cs typeface="Arial"/>
            </a:endParaRPr>
          </a:p>
          <a:p>
            <a:pPr marL="288925" marR="5080">
              <a:lnSpc>
                <a:spcPct val="105800"/>
              </a:lnSpc>
              <a:spcBef>
                <a:spcPts val="254"/>
              </a:spcBef>
            </a:pPr>
            <a:r>
              <a:rPr sz="1100" spc="-20" dirty="0">
                <a:latin typeface="Arial"/>
                <a:cs typeface="Arial"/>
              </a:rPr>
              <a:t>Performed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proximity</a:t>
            </a:r>
            <a:r>
              <a:rPr sz="1100" spc="-40" dirty="0">
                <a:latin typeface="Arial"/>
                <a:cs typeface="Arial"/>
              </a:rPr>
              <a:t> analysis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by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calculating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distances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spc="-40" dirty="0">
                <a:latin typeface="Arial"/>
                <a:cs typeface="Arial"/>
              </a:rPr>
              <a:t>railways,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highways,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spc="-10" dirty="0">
                <a:latin typeface="Arial"/>
                <a:cs typeface="Arial"/>
              </a:rPr>
              <a:t>coastlines.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spc="-60" dirty="0">
                <a:latin typeface="Arial Black"/>
                <a:cs typeface="Arial Black"/>
              </a:rPr>
              <a:t>Plotly</a:t>
            </a:r>
            <a:r>
              <a:rPr sz="1100" spc="-70" dirty="0">
                <a:latin typeface="Arial Black"/>
                <a:cs typeface="Arial Black"/>
              </a:rPr>
              <a:t> </a:t>
            </a:r>
            <a:r>
              <a:rPr sz="1100" spc="-75" dirty="0">
                <a:latin typeface="Arial Black"/>
                <a:cs typeface="Arial Black"/>
              </a:rPr>
              <a:t>Dash</a:t>
            </a:r>
            <a:r>
              <a:rPr sz="1100" spc="-90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 Black"/>
                <a:cs typeface="Arial Black"/>
              </a:rPr>
              <a:t>App:</a:t>
            </a:r>
            <a:endParaRPr sz="1100" dirty="0">
              <a:latin typeface="Arial Black"/>
              <a:cs typeface="Arial Black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20" dirty="0">
                <a:latin typeface="Arial"/>
                <a:cs typeface="Arial"/>
              </a:rPr>
              <a:t>Built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web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dashboard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with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dropdowns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range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sliders.</a:t>
            </a:r>
            <a:endParaRPr sz="1100" dirty="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  <a:spcBef>
                <a:spcPts val="385"/>
              </a:spcBef>
            </a:pPr>
            <a:r>
              <a:rPr sz="1100" spc="-35" dirty="0">
                <a:latin typeface="Arial"/>
                <a:cs typeface="Arial"/>
              </a:rPr>
              <a:t>Created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interactive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Pie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Charts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success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by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site.</a:t>
            </a:r>
            <a:endParaRPr sz="1100" dirty="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  <a:spcBef>
                <a:spcPts val="720"/>
              </a:spcBef>
            </a:pPr>
            <a:r>
              <a:rPr sz="1100" spc="-35" dirty="0">
                <a:latin typeface="Arial"/>
                <a:cs typeface="Arial"/>
              </a:rPr>
              <a:t>Created</a:t>
            </a:r>
            <a:r>
              <a:rPr sz="1100" spc="-9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Scatter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Plots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Payload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Mass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vs.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Outcome.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spc="-50" dirty="0">
                <a:latin typeface="Arial Black"/>
                <a:cs typeface="Arial Black"/>
              </a:rPr>
              <a:t>GitHub</a:t>
            </a:r>
            <a:r>
              <a:rPr sz="1100" spc="-40" dirty="0">
                <a:latin typeface="Arial Black"/>
                <a:cs typeface="Arial Black"/>
              </a:rPr>
              <a:t> </a:t>
            </a:r>
            <a:r>
              <a:rPr sz="1100" spc="-80" dirty="0">
                <a:latin typeface="Arial Black"/>
                <a:cs typeface="Arial Black"/>
              </a:rPr>
              <a:t>URLs: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lang="fr-FR" sz="1100" i="1" dirty="0">
                <a:latin typeface="Calibri"/>
                <a:cs typeface="Calibri"/>
              </a:rPr>
              <a:t>https://github.com/huyennt92/IBM-Data-Science-Capstone/blob/main/lab_jupyter_launch_site_location.ipynb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-12700" y="3116140"/>
            <a:ext cx="347916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916430" algn="l"/>
              </a:tabLst>
            </a:pP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[Your</a:t>
            </a:r>
            <a:r>
              <a:rPr sz="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 Here]</a:t>
            </a:r>
            <a:r>
              <a:rPr sz="6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(Coursera</a:t>
            </a:r>
            <a:r>
              <a:rPr sz="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IBM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Profe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	ssional</a:t>
            </a:r>
            <a:r>
              <a:rPr sz="600" spc="1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 action="ppaction://hlinksldjump"/>
              </a:rPr>
              <a:t>Data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 action="ppaction://hlinksldjump"/>
              </a:rPr>
              <a:t>Science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 action="ppaction://hlinksldjump"/>
              </a:rPr>
              <a:t>Capstone</a:t>
            </a:r>
            <a:r>
              <a:rPr sz="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 action="ppaction://hlinksldjump"/>
              </a:rPr>
              <a:t>Project</a:t>
            </a:r>
            <a:r>
              <a:rPr sz="6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 action="ppaction://hlinksldjump"/>
              </a:rPr>
              <a:t>Repor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17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Folium</a:t>
            </a:r>
            <a:r>
              <a:rPr spc="-55" dirty="0"/>
              <a:t> </a:t>
            </a:r>
            <a:r>
              <a:rPr dirty="0"/>
              <a:t>Map</a:t>
            </a:r>
            <a:r>
              <a:rPr spc="-4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18</a:t>
            </a:fld>
            <a:r>
              <a:rPr spc="-10" dirty="0"/>
              <a:t>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5B31B0-23E3-337A-E5CE-A29260673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67"/>
            <a:ext cx="5765800" cy="24317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9C72C-A77E-343D-EB31-CB15FC289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7F7B6F-35FA-C206-D994-08F5EE6EAF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Folium</a:t>
            </a:r>
            <a:r>
              <a:rPr spc="-55" dirty="0"/>
              <a:t> </a:t>
            </a:r>
            <a:r>
              <a:rPr dirty="0"/>
              <a:t>Map</a:t>
            </a:r>
            <a:r>
              <a:rPr spc="-4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653D79B-383E-A25A-AF87-64D87E6BB83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079CD4C-3576-FED4-0515-6E9F8E098C1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19</a:t>
            </a:fld>
            <a:r>
              <a:rPr spc="-10" dirty="0"/>
              <a:t>/14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03A56-11ED-D3EC-FB20-47B9C68E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" y="512018"/>
            <a:ext cx="5765800" cy="26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59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Plotly</a:t>
            </a:r>
            <a:r>
              <a:rPr spc="-75" dirty="0"/>
              <a:t> </a:t>
            </a:r>
            <a:r>
              <a:rPr spc="-10" dirty="0"/>
              <a:t>Dash</a:t>
            </a:r>
            <a:r>
              <a:rPr spc="-7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20</a:t>
            </a:fld>
            <a:r>
              <a:rPr spc="-10" dirty="0"/>
              <a:t>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62B1DB-2056-8680-58D1-F53759A29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" y="371173"/>
            <a:ext cx="5580025" cy="28298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Predictive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786752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168857"/>
            <a:ext cx="78713" cy="787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3" y="453243"/>
            <a:ext cx="5355590" cy="119253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spc="-55" dirty="0">
                <a:latin typeface="Arial Black"/>
                <a:cs typeface="Arial Black"/>
              </a:rPr>
              <a:t>Model</a:t>
            </a:r>
            <a:r>
              <a:rPr sz="1100" spc="-75" dirty="0">
                <a:latin typeface="Arial Black"/>
                <a:cs typeface="Arial Black"/>
              </a:rPr>
              <a:t> Evaluation</a:t>
            </a:r>
            <a:r>
              <a:rPr sz="1100" spc="-8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&amp;</a:t>
            </a:r>
            <a:r>
              <a:rPr sz="1100" spc="-20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Conclusion:</a:t>
            </a:r>
            <a:endParaRPr sz="1100">
              <a:latin typeface="Arial Black"/>
              <a:cs typeface="Arial Black"/>
            </a:endParaRPr>
          </a:p>
          <a:p>
            <a:pPr marL="289560" marR="360680">
              <a:lnSpc>
                <a:spcPct val="106300"/>
              </a:lnSpc>
              <a:spcBef>
                <a:spcPts val="259"/>
              </a:spcBef>
            </a:pPr>
            <a:r>
              <a:rPr sz="1100" spc="-70" dirty="0">
                <a:latin typeface="Arial Black"/>
                <a:cs typeface="Arial Black"/>
              </a:rPr>
              <a:t>Models</a:t>
            </a:r>
            <a:r>
              <a:rPr sz="1100" spc="-75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Tested:</a:t>
            </a:r>
            <a:r>
              <a:rPr sz="1100" spc="20" dirty="0">
                <a:latin typeface="Arial Black"/>
                <a:cs typeface="Arial Black"/>
              </a:rPr>
              <a:t> </a:t>
            </a:r>
            <a:r>
              <a:rPr sz="1100" spc="-40" dirty="0">
                <a:latin typeface="Arial"/>
                <a:cs typeface="Arial"/>
              </a:rPr>
              <a:t>Logistic </a:t>
            </a:r>
            <a:r>
              <a:rPr sz="1100" spc="-45" dirty="0">
                <a:latin typeface="Arial"/>
                <a:cs typeface="Arial"/>
              </a:rPr>
              <a:t>Regression,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Support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Vector </a:t>
            </a:r>
            <a:r>
              <a:rPr sz="1100" spc="-30" dirty="0">
                <a:latin typeface="Arial"/>
                <a:cs typeface="Arial"/>
              </a:rPr>
              <a:t>Machine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(SVM),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Decision </a:t>
            </a:r>
            <a:r>
              <a:rPr sz="1100" spc="-50" dirty="0">
                <a:latin typeface="Arial"/>
                <a:cs typeface="Arial"/>
              </a:rPr>
              <a:t>Tree,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K-Nearest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Neighbors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(KNN).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6200"/>
              </a:lnSpc>
              <a:spcBef>
                <a:spcPts val="250"/>
              </a:spcBef>
            </a:pPr>
            <a:r>
              <a:rPr sz="1100" spc="-80" dirty="0">
                <a:latin typeface="Arial Black"/>
                <a:cs typeface="Arial Black"/>
              </a:rPr>
              <a:t>Best</a:t>
            </a:r>
            <a:r>
              <a:rPr sz="1100" spc="-150" dirty="0">
                <a:latin typeface="Arial Black"/>
                <a:cs typeface="Arial Black"/>
              </a:rPr>
              <a:t> </a:t>
            </a:r>
            <a:r>
              <a:rPr sz="1100" spc="-35" dirty="0">
                <a:latin typeface="Arial Black"/>
                <a:cs typeface="Arial Black"/>
              </a:rPr>
              <a:t>Model:</a:t>
            </a:r>
            <a:r>
              <a:rPr sz="1100" spc="25" dirty="0">
                <a:latin typeface="Arial Black"/>
                <a:cs typeface="Arial Black"/>
              </a:rPr>
              <a:t> </a:t>
            </a:r>
            <a:r>
              <a:rPr sz="1100" spc="-50" dirty="0">
                <a:latin typeface="Arial"/>
                <a:cs typeface="Arial"/>
              </a:rPr>
              <a:t>All</a:t>
            </a:r>
            <a:r>
              <a:rPr sz="1100" spc="-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models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performed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similarly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well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on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test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data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(approx.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83.3% </a:t>
            </a:r>
            <a:r>
              <a:rPr sz="1100" spc="-40" dirty="0">
                <a:latin typeface="Arial"/>
                <a:cs typeface="Arial"/>
              </a:rPr>
              <a:t>accuracy),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but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85" dirty="0">
                <a:latin typeface="Arial Black"/>
                <a:cs typeface="Arial Black"/>
              </a:rPr>
              <a:t>Decision</a:t>
            </a:r>
            <a:r>
              <a:rPr sz="1100" spc="-120" dirty="0">
                <a:latin typeface="Arial Black"/>
                <a:cs typeface="Arial Black"/>
              </a:rPr>
              <a:t> </a:t>
            </a:r>
            <a:r>
              <a:rPr sz="1100" spc="-100" dirty="0">
                <a:latin typeface="Arial Black"/>
                <a:cs typeface="Arial Black"/>
              </a:rPr>
              <a:t>Tree</a:t>
            </a:r>
            <a:r>
              <a:rPr sz="1100" spc="-155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"/>
                <a:cs typeface="Arial"/>
              </a:rPr>
              <a:t>(or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SVM)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is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preferred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its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specific hyperparameter </a:t>
            </a:r>
            <a:r>
              <a:rPr sz="1100" spc="-30" dirty="0">
                <a:latin typeface="Arial"/>
                <a:cs typeface="Arial"/>
              </a:rPr>
              <a:t>tuning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results.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21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D30F-9633-11B2-D17D-E3C2558B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A45C4C-E964-4A45-0064-0E34C36BF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Predictive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6546D31-FB9B-6C00-5FC9-A9F043E6354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A581984-48EA-FE27-60B3-3D3701E0B3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22</a:t>
            </a:fld>
            <a:r>
              <a:rPr spc="-10" dirty="0"/>
              <a:t>/14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49110-838E-FB1A-BC3B-D635BEF3E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" y="512018"/>
            <a:ext cx="5765800" cy="26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2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1124</Words>
  <Application>Microsoft Office PowerPoint</Application>
  <PresentationFormat>Custom</PresentationFormat>
  <Paragraphs>146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Georgia</vt:lpstr>
      <vt:lpstr>Times New Roman</vt:lpstr>
      <vt:lpstr>Wingdings</vt:lpstr>
      <vt:lpstr>Office Theme</vt:lpstr>
      <vt:lpstr>PowerPoint Presentation</vt:lpstr>
      <vt:lpstr>Introduction</vt:lpstr>
      <vt:lpstr>Executive Summary</vt:lpstr>
      <vt:lpstr>Data Collection – SpaceX API</vt:lpstr>
      <vt:lpstr>Data Collection – Web Scraping</vt:lpstr>
      <vt:lpstr>Data Wrangling Methodology</vt:lpstr>
      <vt:lpstr>EDA with Data Visualization</vt:lpstr>
      <vt:lpstr>EDA Visualization Results 1</vt:lpstr>
      <vt:lpstr>EDA Visualization Results 2</vt:lpstr>
      <vt:lpstr>EDA with SQL</vt:lpstr>
      <vt:lpstr>EDA with SQL Results</vt:lpstr>
      <vt:lpstr>EDA with SQL Results</vt:lpstr>
      <vt:lpstr>EDA with SQL Results</vt:lpstr>
      <vt:lpstr>EDA with SQL Results</vt:lpstr>
      <vt:lpstr>EDA with SQL Results</vt:lpstr>
      <vt:lpstr>EDA with SQL Results</vt:lpstr>
      <vt:lpstr>Interactive Visual Analytics</vt:lpstr>
      <vt:lpstr>Folium Map Results</vt:lpstr>
      <vt:lpstr>Folium Map Results</vt:lpstr>
      <vt:lpstr>Plotly Dash Results</vt:lpstr>
      <vt:lpstr>Predictive Analysis</vt:lpstr>
      <vt:lpstr>Predictive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 - SpaceX Falcon 9 First Stage Landing Prediction</dc:title>
  <dc:creator>[Your Name Here]</dc:creator>
  <cp:lastModifiedBy>Huyền Nguyễn Thị</cp:lastModifiedBy>
  <cp:revision>6</cp:revision>
  <dcterms:created xsi:type="dcterms:W3CDTF">2026-05-30T12:59:58Z</dcterms:created>
  <dcterms:modified xsi:type="dcterms:W3CDTF">2026-05-31T05:59:15Z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2026-05-30T00:00:00Z</vt:filetime>
  </property>
  <property fmtid="{D5CDD505-2E9C-101B-9397-08002B2CF9AE}" pid="5" name="Producer">
    <vt:lpwstr>3-Heights(TM) PDF Security Shell 4.8.25.2 (http://www.pdf-tools.com)</vt:lpwstr>
  </property>
</Properties>
</file>